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20"/>
  </p:notesMasterIdLst>
  <p:sldIdLst>
    <p:sldId id="289" r:id="rId2"/>
    <p:sldId id="304" r:id="rId3"/>
    <p:sldId id="259" r:id="rId4"/>
    <p:sldId id="305" r:id="rId5"/>
    <p:sldId id="290" r:id="rId6"/>
    <p:sldId id="306" r:id="rId7"/>
    <p:sldId id="315" r:id="rId8"/>
    <p:sldId id="292" r:id="rId9"/>
    <p:sldId id="260" r:id="rId10"/>
    <p:sldId id="293" r:id="rId11"/>
    <p:sldId id="294" r:id="rId12"/>
    <p:sldId id="303" r:id="rId13"/>
    <p:sldId id="291" r:id="rId14"/>
    <p:sldId id="262" r:id="rId15"/>
    <p:sldId id="314" r:id="rId16"/>
    <p:sldId id="312" r:id="rId17"/>
    <p:sldId id="313" r:id="rId18"/>
    <p:sldId id="308" r:id="rId19"/>
  </p:sldIdLst>
  <p:sldSz cx="9144000" cy="5143500" type="screen16x9"/>
  <p:notesSz cx="6858000" cy="9144000"/>
  <p:embeddedFontLst>
    <p:embeddedFont>
      <p:font typeface="Archivo" panose="020B0604020202020204" charset="0"/>
      <p:regular r:id="rId21"/>
      <p:bold r:id="rId22"/>
      <p:italic r:id="rId23"/>
      <p:boldItalic r:id="rId24"/>
    </p:embeddedFont>
    <p:embeddedFont>
      <p:font typeface="Helvetica" panose="020B0604020202020204" pitchFamily="34" charset="0"/>
      <p:regular r:id="rId25"/>
      <p:bold r:id="rId26"/>
      <p:italic r:id="rId27"/>
      <p:boldItalic r:id="rId28"/>
    </p:embeddedFont>
    <p:embeddedFont>
      <p:font typeface="Nunito Light" pitchFamily="2" charset="0"/>
      <p:regular r:id="rId29"/>
      <p:italic r:id="rId30"/>
    </p:embeddedFont>
    <p:embeddedFont>
      <p:font typeface="Press Start 2P" panose="020B0604020202020204" charset="0"/>
      <p:regular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1E0CED-0C39-48FE-A9B4-1E62F7BBEED0}" v="12" dt="2024-11-27T17:49:34.813"/>
    <p1510:client id="{0EDBEA8B-7DF9-481E-B11A-C2BC100AD166}" v="239" dt="2024-11-27T16:40:43.279"/>
    <p1510:client id="{1FEAF680-CC41-4D1A-9E97-2A7703391609}" v="21" dt="2024-11-27T17:48:27.479"/>
    <p1510:client id="{33C87504-AA93-48E1-9EDF-5C4A3C7E8781}" v="224" dt="2024-11-27T16:17:16.070"/>
  </p1510:revLst>
</p1510:revInfo>
</file>

<file path=ppt/tableStyles.xml><?xml version="1.0" encoding="utf-8"?>
<a:tblStyleLst xmlns:a="http://schemas.openxmlformats.org/drawingml/2006/main" def="{2B840D8E-0938-4A5A-B910-C0F5EFEB725C}">
  <a:tblStyle styleId="{2B840D8E-0938-4A5A-B910-C0F5EFEB725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36154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Google Shape;1449;g2a7f00d7c01_0_2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0" name="Google Shape;1450;g2a7f00d7c01_0_2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g2a7f00d7c01_0_2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3" name="Google Shape;1883;g2a7f00d7c01_0_2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0449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Google Shape;1449;g2a7f00d7c01_0_2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0" name="Google Shape;1450;g2a7f00d7c01_0_2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5180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1321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g2a7f00d7c01_0_2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3" name="Google Shape;1883;g2a7f00d7c01_0_2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379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6" name="Google Shape;2256;g2a85e034975_0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7" name="Google Shape;2257;g2a85e034975_0_5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57448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1478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9544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Google Shape;2240;g2a85e03497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1" name="Google Shape;2241;g2a85e03497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Google Shape;2240;g2a85e03497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1" name="Google Shape;2241;g2a85e03497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26728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51695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g2a7f00d7c01_0_2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3" name="Google Shape;1883;g2a7f00d7c01_0_2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92412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g2a7f00d7c01_0_2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3" name="Google Shape;1883;g2a7f00d7c01_0_2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0048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680900" y="1285850"/>
            <a:ext cx="5782200" cy="157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800"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680900" y="3379750"/>
            <a:ext cx="57822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 idx="2"/>
          </p:nvPr>
        </p:nvSpPr>
        <p:spPr>
          <a:xfrm>
            <a:off x="1680900" y="2721350"/>
            <a:ext cx="5782200" cy="6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1800">
                <a:solidFill>
                  <a:schemeClr val="lt2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3715838" y="281238"/>
            <a:ext cx="1712300" cy="178225"/>
            <a:chOff x="3715838" y="281238"/>
            <a:chExt cx="1712300" cy="178225"/>
          </a:xfrm>
        </p:grpSpPr>
        <p:sp>
          <p:nvSpPr>
            <p:cNvPr id="13" name="Google Shape;13;p2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14;p2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" name="Google Shape;20;p2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1" name="Google Shape;21;p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" name="Google Shape;26;p2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27" name="Google Shape;27;p2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" name="Google Shape;29;p2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30" name="Google Shape;30;p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5" name="Google Shape;35;p2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36" name="Google Shape;36;p2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"/>
          <p:cNvSpPr txBox="1">
            <a:spLocks noGrp="1"/>
          </p:cNvSpPr>
          <p:nvPr>
            <p:ph type="title"/>
          </p:nvPr>
        </p:nvSpPr>
        <p:spPr>
          <a:xfrm>
            <a:off x="2038200" y="2207942"/>
            <a:ext cx="5067600" cy="115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3"/>
          <p:cNvSpPr txBox="1">
            <a:spLocks noGrp="1"/>
          </p:cNvSpPr>
          <p:nvPr>
            <p:ph type="title" idx="2" hasCustomPrompt="1"/>
          </p:nvPr>
        </p:nvSpPr>
        <p:spPr>
          <a:xfrm>
            <a:off x="3949050" y="1403063"/>
            <a:ext cx="1245900" cy="841800"/>
          </a:xfrm>
          <a:prstGeom prst="rect">
            <a:avLst/>
          </a:prstGeom>
          <a:noFill/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8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3"/>
          <p:cNvSpPr txBox="1">
            <a:spLocks noGrp="1"/>
          </p:cNvSpPr>
          <p:nvPr>
            <p:ph type="subTitle" idx="1"/>
          </p:nvPr>
        </p:nvSpPr>
        <p:spPr>
          <a:xfrm>
            <a:off x="2038200" y="3307225"/>
            <a:ext cx="5067600" cy="433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3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45" name="Google Shape;45;p3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" name="Google Shape;46;p3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47" name="Google Shape;47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" name="Google Shape;52;p3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53" name="Google Shape;53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8" name="Google Shape;58;p3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59" name="Google Shape;59;p3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" name="Google Shape;61;p3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62" name="Google Shape;62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7" name="Google Shape;67;p3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68" name="Google Shape;68;p3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" name="Google Shape;70;p3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71" name="Google Shape;71;p3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" name="Google Shape;75;p3"/>
          <p:cNvGrpSpPr/>
          <p:nvPr/>
        </p:nvGrpSpPr>
        <p:grpSpPr>
          <a:xfrm>
            <a:off x="3768188" y="281250"/>
            <a:ext cx="1607575" cy="178225"/>
            <a:chOff x="3768188" y="4684025"/>
            <a:chExt cx="1607575" cy="178225"/>
          </a:xfrm>
        </p:grpSpPr>
        <p:sp>
          <p:nvSpPr>
            <p:cNvPr id="76" name="Google Shape;76;p3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" name="Google Shape;78;p3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79" name="Google Shape;79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"/>
          <p:cNvSpPr txBox="1">
            <a:spLocks noGrp="1"/>
          </p:cNvSpPr>
          <p:nvPr>
            <p:ph type="body" idx="1"/>
          </p:nvPr>
        </p:nvSpPr>
        <p:spPr>
          <a:xfrm>
            <a:off x="713225" y="1073075"/>
            <a:ext cx="7717500" cy="34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Font typeface="Didact Gothic"/>
              <a:buChar char="■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■"/>
              <a:defRPr/>
            </a:lvl9pPr>
          </a:lstStyle>
          <a:p>
            <a:endParaRPr/>
          </a:p>
        </p:txBody>
      </p:sp>
      <p:sp>
        <p:nvSpPr>
          <p:cNvPr id="86" name="Google Shape;86;p4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7" name="Google Shape;87;p4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88" name="Google Shape;88;p4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" name="Google Shape;89;p4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1" name="Google Shape;101;p4"/>
          <p:cNvGrpSpPr/>
          <p:nvPr/>
        </p:nvGrpSpPr>
        <p:grpSpPr>
          <a:xfrm>
            <a:off x="401025" y="333613"/>
            <a:ext cx="8341875" cy="4476263"/>
            <a:chOff x="401038" y="333625"/>
            <a:chExt cx="8341875" cy="4476263"/>
          </a:xfrm>
        </p:grpSpPr>
        <p:sp>
          <p:nvSpPr>
            <p:cNvPr id="102" name="Google Shape;102;p4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4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>
            <a:spLocks noGrp="1"/>
          </p:cNvSpPr>
          <p:nvPr>
            <p:ph type="title"/>
          </p:nvPr>
        </p:nvSpPr>
        <p:spPr>
          <a:xfrm>
            <a:off x="1095150" y="521225"/>
            <a:ext cx="6953700" cy="8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5"/>
          <p:cNvSpPr txBox="1">
            <a:spLocks noGrp="1"/>
          </p:cNvSpPr>
          <p:nvPr>
            <p:ph type="subTitle" idx="1"/>
          </p:nvPr>
        </p:nvSpPr>
        <p:spPr>
          <a:xfrm>
            <a:off x="1051706" y="1776125"/>
            <a:ext cx="3103200" cy="89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5"/>
          <p:cNvSpPr txBox="1">
            <a:spLocks noGrp="1"/>
          </p:cNvSpPr>
          <p:nvPr>
            <p:ph type="subTitle" idx="2"/>
          </p:nvPr>
        </p:nvSpPr>
        <p:spPr>
          <a:xfrm>
            <a:off x="1051719" y="2612575"/>
            <a:ext cx="3103200" cy="160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5"/>
          <p:cNvSpPr txBox="1">
            <a:spLocks noGrp="1"/>
          </p:cNvSpPr>
          <p:nvPr>
            <p:ph type="subTitle" idx="3"/>
          </p:nvPr>
        </p:nvSpPr>
        <p:spPr>
          <a:xfrm>
            <a:off x="4989083" y="1776125"/>
            <a:ext cx="3103200" cy="89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5"/>
          <p:cNvSpPr txBox="1">
            <a:spLocks noGrp="1"/>
          </p:cNvSpPr>
          <p:nvPr>
            <p:ph type="subTitle" idx="4"/>
          </p:nvPr>
        </p:nvSpPr>
        <p:spPr>
          <a:xfrm>
            <a:off x="4989094" y="2612575"/>
            <a:ext cx="3103200" cy="160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0" name="Google Shape;110;p5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111" name="Google Shape;111;p5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5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" name="Google Shape;113;p5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14" name="Google Shape;114;p5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5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5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5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5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9" name="Google Shape;119;p5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120" name="Google Shape;120;p5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5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24" name="Google Shape;124;p6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125" name="Google Shape;125;p6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6" name="Google Shape;126;p6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127" name="Google Shape;127;p6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6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6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2" name="Google Shape;132;p6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133" name="Google Shape;133;p6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6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6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6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6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8" name="Google Shape;138;p6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139" name="Google Shape;139;p6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6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>
            <a:spLocks noGrp="1"/>
          </p:cNvSpPr>
          <p:nvPr>
            <p:ph type="pic" idx="2"/>
          </p:nvPr>
        </p:nvSpPr>
        <p:spPr>
          <a:xfrm>
            <a:off x="5838175" y="745800"/>
            <a:ext cx="3305700" cy="36519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43" name="Google Shape;143;p7"/>
          <p:cNvSpPr txBox="1">
            <a:spLocks noGrp="1"/>
          </p:cNvSpPr>
          <p:nvPr>
            <p:ph type="subTitle" idx="1"/>
          </p:nvPr>
        </p:nvSpPr>
        <p:spPr>
          <a:xfrm>
            <a:off x="713225" y="1520125"/>
            <a:ext cx="3722700" cy="300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unito Light"/>
              <a:buChar char="●"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Light"/>
              <a:buChar char="○"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■"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●"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○"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●"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○"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/>
            </a:lvl9pPr>
          </a:lstStyle>
          <a:p>
            <a:endParaRPr/>
          </a:p>
        </p:txBody>
      </p:sp>
      <p:sp>
        <p:nvSpPr>
          <p:cNvPr id="144" name="Google Shape;144;p7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47610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45" name="Google Shape;145;p7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146" name="Google Shape;146;p7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7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8" name="Google Shape;148;p7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49" name="Google Shape;149;p7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7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7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7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4" name="Google Shape;154;p7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155" name="Google Shape;155;p7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7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59" name="Google Shape;159;p8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160" name="Google Shape;160;p8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1" name="Google Shape;161;p8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162" name="Google Shape;162;p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7" name="Google Shape;167;p8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168" name="Google Shape;168;p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3" name="Google Shape;173;p8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174" name="Google Shape;174;p8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8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8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8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8" name="Google Shape;178;p8"/>
          <p:cNvGrpSpPr/>
          <p:nvPr/>
        </p:nvGrpSpPr>
        <p:grpSpPr>
          <a:xfrm>
            <a:off x="3768188" y="281250"/>
            <a:ext cx="1607575" cy="178225"/>
            <a:chOff x="3768188" y="4684025"/>
            <a:chExt cx="1607575" cy="178225"/>
          </a:xfrm>
        </p:grpSpPr>
        <p:sp>
          <p:nvSpPr>
            <p:cNvPr id="179" name="Google Shape;179;p8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8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1" name="Google Shape;181;p8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82" name="Google Shape;182;p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 txBox="1">
            <a:spLocks noGrp="1"/>
          </p:cNvSpPr>
          <p:nvPr>
            <p:ph type="title"/>
          </p:nvPr>
        </p:nvSpPr>
        <p:spPr>
          <a:xfrm>
            <a:off x="25494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89" name="Google Shape;189;p9"/>
          <p:cNvSpPr txBox="1">
            <a:spLocks noGrp="1"/>
          </p:cNvSpPr>
          <p:nvPr>
            <p:ph type="subTitle" idx="1"/>
          </p:nvPr>
        </p:nvSpPr>
        <p:spPr>
          <a:xfrm>
            <a:off x="25494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190" name="Google Shape;190;p9"/>
          <p:cNvGrpSpPr/>
          <p:nvPr/>
        </p:nvGrpSpPr>
        <p:grpSpPr>
          <a:xfrm>
            <a:off x="401025" y="333613"/>
            <a:ext cx="8341875" cy="4476263"/>
            <a:chOff x="401038" y="333625"/>
            <a:chExt cx="8341875" cy="4476263"/>
          </a:xfrm>
        </p:grpSpPr>
        <p:sp>
          <p:nvSpPr>
            <p:cNvPr id="191" name="Google Shape;191;p9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9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" name="Google Shape;193;p9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194" name="Google Shape;194;p9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9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6" name="Google Shape;196;p9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97" name="Google Shape;197;p9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9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9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9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9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04" name="Google Shape;204;p10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7638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07" name="Google Shape;207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08" name="Google Shape;208;p11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209" name="Google Shape;209;p11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1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" name="Google Shape;211;p11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212" name="Google Shape;212;p11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3" name="Google Shape;213;p11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214" name="Google Shape;214;p11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1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20" name="Google Shape;220;p11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11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11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3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13"/>
          <p:cNvSpPr txBox="1">
            <a:spLocks noGrp="1"/>
          </p:cNvSpPr>
          <p:nvPr>
            <p:ph type="subTitle" idx="1"/>
          </p:nvPr>
        </p:nvSpPr>
        <p:spPr>
          <a:xfrm>
            <a:off x="804550" y="2253982"/>
            <a:ext cx="2388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13"/>
          <p:cNvSpPr txBox="1">
            <a:spLocks noGrp="1"/>
          </p:cNvSpPr>
          <p:nvPr>
            <p:ph type="subTitle" idx="2"/>
          </p:nvPr>
        </p:nvSpPr>
        <p:spPr>
          <a:xfrm>
            <a:off x="804550" y="2675425"/>
            <a:ext cx="23886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13"/>
          <p:cNvSpPr txBox="1">
            <a:spLocks noGrp="1"/>
          </p:cNvSpPr>
          <p:nvPr>
            <p:ph type="subTitle" idx="3"/>
          </p:nvPr>
        </p:nvSpPr>
        <p:spPr>
          <a:xfrm>
            <a:off x="3377700" y="2253985"/>
            <a:ext cx="2388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13"/>
          <p:cNvSpPr txBox="1">
            <a:spLocks noGrp="1"/>
          </p:cNvSpPr>
          <p:nvPr>
            <p:ph type="subTitle" idx="4"/>
          </p:nvPr>
        </p:nvSpPr>
        <p:spPr>
          <a:xfrm>
            <a:off x="3377700" y="2675428"/>
            <a:ext cx="23886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13"/>
          <p:cNvSpPr txBox="1">
            <a:spLocks noGrp="1"/>
          </p:cNvSpPr>
          <p:nvPr>
            <p:ph type="subTitle" idx="5"/>
          </p:nvPr>
        </p:nvSpPr>
        <p:spPr>
          <a:xfrm>
            <a:off x="5950850" y="2253985"/>
            <a:ext cx="2388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13"/>
          <p:cNvSpPr txBox="1">
            <a:spLocks noGrp="1"/>
          </p:cNvSpPr>
          <p:nvPr>
            <p:ph type="subTitle" idx="6"/>
          </p:nvPr>
        </p:nvSpPr>
        <p:spPr>
          <a:xfrm>
            <a:off x="5950850" y="2675428"/>
            <a:ext cx="23886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13"/>
          <p:cNvSpPr txBox="1">
            <a:spLocks noGrp="1"/>
          </p:cNvSpPr>
          <p:nvPr>
            <p:ph type="title" idx="7" hasCustomPrompt="1"/>
          </p:nvPr>
        </p:nvSpPr>
        <p:spPr>
          <a:xfrm>
            <a:off x="1528150" y="1676925"/>
            <a:ext cx="941400" cy="572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235" name="Google Shape;235;p13"/>
          <p:cNvSpPr txBox="1">
            <a:spLocks noGrp="1"/>
          </p:cNvSpPr>
          <p:nvPr>
            <p:ph type="title" idx="8" hasCustomPrompt="1"/>
          </p:nvPr>
        </p:nvSpPr>
        <p:spPr>
          <a:xfrm>
            <a:off x="4101300" y="1676925"/>
            <a:ext cx="941400" cy="572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sp>
        <p:nvSpPr>
          <p:cNvPr id="236" name="Google Shape;236;p13"/>
          <p:cNvSpPr txBox="1">
            <a:spLocks noGrp="1"/>
          </p:cNvSpPr>
          <p:nvPr>
            <p:ph type="title" idx="9" hasCustomPrompt="1"/>
          </p:nvPr>
        </p:nvSpPr>
        <p:spPr>
          <a:xfrm>
            <a:off x="6674450" y="1676925"/>
            <a:ext cx="941400" cy="572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t>xx%</a:t>
            </a:r>
          </a:p>
        </p:txBody>
      </p:sp>
      <p:grpSp>
        <p:nvGrpSpPr>
          <p:cNvPr id="237" name="Google Shape;237;p13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238" name="Google Shape;238;p13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13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0" name="Google Shape;240;p13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241" name="Google Shape;241;p1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1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1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1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1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6" name="Google Shape;246;p13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247" name="Google Shape;247;p13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13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"/>
          <p:cNvSpPr txBox="1">
            <a:spLocks noGrp="1"/>
          </p:cNvSpPr>
          <p:nvPr>
            <p:ph type="title"/>
          </p:nvPr>
        </p:nvSpPr>
        <p:spPr>
          <a:xfrm flipH="1">
            <a:off x="1803150" y="3412850"/>
            <a:ext cx="5537700" cy="4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1" name="Google Shape;251;p14"/>
          <p:cNvSpPr txBox="1">
            <a:spLocks noGrp="1"/>
          </p:cNvSpPr>
          <p:nvPr>
            <p:ph type="subTitle" idx="1"/>
          </p:nvPr>
        </p:nvSpPr>
        <p:spPr>
          <a:xfrm flipH="1">
            <a:off x="1803150" y="1103500"/>
            <a:ext cx="5537700" cy="220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2" name="Google Shape;252;p14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253" name="Google Shape;253;p14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4" name="Google Shape;254;p14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255" name="Google Shape;255;p1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1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1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0" name="Google Shape;260;p14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61" name="Google Shape;261;p1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1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6" name="Google Shape;266;p14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267" name="Google Shape;267;p14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4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9" name="Google Shape;269;p14"/>
          <p:cNvGrpSpPr/>
          <p:nvPr/>
        </p:nvGrpSpPr>
        <p:grpSpPr>
          <a:xfrm>
            <a:off x="3768188" y="281250"/>
            <a:ext cx="1607575" cy="178225"/>
            <a:chOff x="3768188" y="4684025"/>
            <a:chExt cx="1607575" cy="178225"/>
          </a:xfrm>
        </p:grpSpPr>
        <p:sp>
          <p:nvSpPr>
            <p:cNvPr id="270" name="Google Shape;270;p14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4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2" name="Google Shape;272;p14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273" name="Google Shape;273;p1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1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1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1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3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5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280" name="Google Shape;280;p15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281" name="Google Shape;281;p15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5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3" name="Google Shape;283;p15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284" name="Google Shape;284;p15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5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15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15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15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89" name="Google Shape;289;p15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290" name="Google Shape;290;p15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5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5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6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294" name="Google Shape;294;p16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295" name="Google Shape;295;p16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6" name="Google Shape;296;p16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297" name="Google Shape;297;p16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16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16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6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16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2" name="Google Shape;302;p16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303" name="Google Shape;303;p16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16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16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16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16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8" name="Google Shape;308;p16"/>
          <p:cNvGrpSpPr/>
          <p:nvPr/>
        </p:nvGrpSpPr>
        <p:grpSpPr>
          <a:xfrm>
            <a:off x="401025" y="333613"/>
            <a:ext cx="8341875" cy="4476263"/>
            <a:chOff x="401038" y="333625"/>
            <a:chExt cx="8341875" cy="4476263"/>
          </a:xfrm>
        </p:grpSpPr>
        <p:sp>
          <p:nvSpPr>
            <p:cNvPr id="309" name="Google Shape;309;p16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16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2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7"/>
          <p:cNvSpPr>
            <a:spLocks noGrp="1"/>
          </p:cNvSpPr>
          <p:nvPr>
            <p:ph type="pic" idx="2"/>
          </p:nvPr>
        </p:nvSpPr>
        <p:spPr>
          <a:xfrm>
            <a:off x="0" y="745800"/>
            <a:ext cx="3305700" cy="36519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313" name="Google Shape;313;p17"/>
          <p:cNvSpPr txBox="1">
            <a:spLocks noGrp="1"/>
          </p:cNvSpPr>
          <p:nvPr>
            <p:ph type="subTitle" idx="1"/>
          </p:nvPr>
        </p:nvSpPr>
        <p:spPr>
          <a:xfrm>
            <a:off x="4066400" y="1596325"/>
            <a:ext cx="4364400" cy="28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hivo"/>
              <a:buChar char="■"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/>
            </a:lvl9pPr>
          </a:lstStyle>
          <a:p>
            <a:endParaRPr/>
          </a:p>
        </p:txBody>
      </p:sp>
      <p:sp>
        <p:nvSpPr>
          <p:cNvPr id="314" name="Google Shape;314;p17"/>
          <p:cNvSpPr txBox="1">
            <a:spLocks noGrp="1"/>
          </p:cNvSpPr>
          <p:nvPr>
            <p:ph type="title"/>
          </p:nvPr>
        </p:nvSpPr>
        <p:spPr>
          <a:xfrm>
            <a:off x="4066400" y="521225"/>
            <a:ext cx="43644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15" name="Google Shape;315;p17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316" name="Google Shape;316;p17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17" name="Google Shape;317;p17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318" name="Google Shape;318;p17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17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17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17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17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3" name="Google Shape;323;p17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324" name="Google Shape;324;p17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17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17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17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17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29" name="Google Shape;329;p17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330" name="Google Shape;330;p17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7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8"/>
          <p:cNvSpPr txBox="1">
            <a:spLocks noGrp="1"/>
          </p:cNvSpPr>
          <p:nvPr>
            <p:ph type="body" idx="1"/>
          </p:nvPr>
        </p:nvSpPr>
        <p:spPr>
          <a:xfrm>
            <a:off x="713225" y="1073075"/>
            <a:ext cx="7717500" cy="12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Font typeface="Didact Gothic"/>
              <a:buChar char="■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○"/>
              <a:defRPr/>
            </a:lvl2pPr>
            <a:lvl3pPr marL="1371600" lvl="2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■"/>
              <a:defRPr/>
            </a:lvl3pPr>
            <a:lvl4pPr marL="1828800" lvl="3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●"/>
              <a:defRPr/>
            </a:lvl4pPr>
            <a:lvl5pPr marL="2286000" lvl="4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○"/>
              <a:defRPr/>
            </a:lvl5pPr>
            <a:lvl6pPr marL="2743200" lvl="5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■"/>
              <a:defRPr/>
            </a:lvl6pPr>
            <a:lvl7pPr marL="3200400" lvl="6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●"/>
              <a:defRPr/>
            </a:lvl7pPr>
            <a:lvl8pPr marL="3657600" lvl="7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○"/>
              <a:defRPr/>
            </a:lvl8pPr>
            <a:lvl9pPr marL="4114800" lvl="8" indent="-323850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500"/>
              <a:buFont typeface="Didact Gothic"/>
              <a:buChar char="■"/>
              <a:defRPr/>
            </a:lvl9pPr>
          </a:lstStyle>
          <a:p>
            <a:endParaRPr/>
          </a:p>
        </p:txBody>
      </p:sp>
      <p:sp>
        <p:nvSpPr>
          <p:cNvPr id="334" name="Google Shape;334;p18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35" name="Google Shape;335;p18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336" name="Google Shape;336;p18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37" name="Google Shape;337;p18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338" name="Google Shape;338;p1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Google Shape;340;p1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1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3" name="Google Shape;343;p18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344" name="Google Shape;344;p1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1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1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1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9" name="Google Shape;349;p18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350" name="Google Shape;350;p18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18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4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9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subTitle" idx="1"/>
          </p:nvPr>
        </p:nvSpPr>
        <p:spPr>
          <a:xfrm>
            <a:off x="910563" y="1480500"/>
            <a:ext cx="3385500" cy="241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2"/>
          </p:nvPr>
        </p:nvSpPr>
        <p:spPr>
          <a:xfrm>
            <a:off x="4847938" y="1480500"/>
            <a:ext cx="3385500" cy="241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56" name="Google Shape;356;p19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357" name="Google Shape;357;p19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19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9" name="Google Shape;359;p19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360" name="Google Shape;360;p19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19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19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19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19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65" name="Google Shape;365;p19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366" name="Google Shape;366;p19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6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0"/>
          <p:cNvSpPr txBox="1">
            <a:spLocks noGrp="1"/>
          </p:cNvSpPr>
          <p:nvPr>
            <p:ph type="title"/>
          </p:nvPr>
        </p:nvSpPr>
        <p:spPr>
          <a:xfrm>
            <a:off x="2257500" y="576063"/>
            <a:ext cx="4629000" cy="104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0" name="Google Shape;370;p20"/>
          <p:cNvSpPr txBox="1">
            <a:spLocks noGrp="1"/>
          </p:cNvSpPr>
          <p:nvPr>
            <p:ph type="subTitle" idx="1"/>
          </p:nvPr>
        </p:nvSpPr>
        <p:spPr>
          <a:xfrm>
            <a:off x="2964800" y="1524450"/>
            <a:ext cx="32145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71" name="Google Shape;371;p20"/>
          <p:cNvGrpSpPr/>
          <p:nvPr/>
        </p:nvGrpSpPr>
        <p:grpSpPr>
          <a:xfrm>
            <a:off x="3715838" y="281238"/>
            <a:ext cx="1712300" cy="178225"/>
            <a:chOff x="3715838" y="281238"/>
            <a:chExt cx="1712300" cy="178225"/>
          </a:xfrm>
        </p:grpSpPr>
        <p:sp>
          <p:nvSpPr>
            <p:cNvPr id="372" name="Google Shape;372;p20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3" name="Google Shape;373;p20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374" name="Google Shape;374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9" name="Google Shape;379;p20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380" name="Google Shape;380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5" name="Google Shape;385;p20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386" name="Google Shape;386;p20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8" name="Google Shape;388;p20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389" name="Google Shape;389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94" name="Google Shape;394;p20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395" name="Google Shape;395;p20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0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0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20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400" name="Google Shape;400;p20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1" name="Google Shape;401;p20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402" name="Google Shape;402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7" name="Google Shape;407;p20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408" name="Google Shape;408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3" name="Google Shape;413;p20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414" name="Google Shape;414;p20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0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6" name="Google Shape;416;p20"/>
          <p:cNvSpPr txBox="1"/>
          <p:nvPr/>
        </p:nvSpPr>
        <p:spPr>
          <a:xfrm>
            <a:off x="2689350" y="3427938"/>
            <a:ext cx="37653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This presentation template was created by </a:t>
            </a:r>
            <a:r>
              <a:rPr lang="en" sz="1000" b="1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and includes icons by </a:t>
            </a:r>
            <a:r>
              <a:rPr lang="en" sz="1000" b="1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and infographics &amp; images by </a:t>
            </a:r>
            <a:r>
              <a:rPr lang="en" sz="1000" b="1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</a:t>
            </a:r>
            <a:endParaRPr sz="1000" u="sng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21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419" name="Google Shape;419;p21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1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1" name="Google Shape;421;p21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422" name="Google Shape;422;p21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21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21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21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21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27" name="Google Shape;427;p21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428" name="Google Shape;428;p21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1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7_1"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1" name="Google Shape;431;p22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432" name="Google Shape;432;p22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3" name="Google Shape;433;p22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434" name="Google Shape;434;p2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2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2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2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2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9" name="Google Shape;439;p22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440" name="Google Shape;440;p2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2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2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2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2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5" name="Google Shape;445;p22"/>
          <p:cNvGrpSpPr/>
          <p:nvPr/>
        </p:nvGrpSpPr>
        <p:grpSpPr>
          <a:xfrm>
            <a:off x="401025" y="333613"/>
            <a:ext cx="8341875" cy="4476263"/>
            <a:chOff x="401038" y="333625"/>
            <a:chExt cx="8341875" cy="4476263"/>
          </a:xfrm>
        </p:grpSpPr>
        <p:sp>
          <p:nvSpPr>
            <p:cNvPr id="446" name="Google Shape;446;p22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2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Char char="●"/>
              <a:defRPr sz="18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1864266" y="2125116"/>
            <a:ext cx="5067600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>
                <a:solidFill>
                  <a:srgbClr val="F8F8F8"/>
                </a:solidFill>
                <a:cs typeface="Helvetica"/>
              </a:rPr>
              <a:t>“Squids with </a:t>
            </a:r>
            <a:r>
              <a:rPr lang="en" err="1">
                <a:solidFill>
                  <a:srgbClr val="F8F8F8"/>
                </a:solidFill>
                <a:cs typeface="Helvetica"/>
              </a:rPr>
              <a:t>gunz</a:t>
            </a:r>
            <a:r>
              <a:rPr lang="en">
                <a:solidFill>
                  <a:srgbClr val="F8F8F8"/>
                </a:solidFill>
                <a:cs typeface="Helvetica"/>
              </a:rPr>
              <a:t>”</a:t>
            </a:r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1754159" y="1295389"/>
            <a:ext cx="5287811" cy="8252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6200"/>
              <a:t>SQUIDZ</a:t>
            </a:r>
          </a:p>
        </p:txBody>
      </p:sp>
      <p:sp>
        <p:nvSpPr>
          <p:cNvPr id="1468" name="Google Shape;1468;p29"/>
          <p:cNvSpPr txBox="1">
            <a:spLocks noGrp="1"/>
          </p:cNvSpPr>
          <p:nvPr>
            <p:ph type="subTitle" idx="1"/>
          </p:nvPr>
        </p:nvSpPr>
        <p:spPr>
          <a:xfrm>
            <a:off x="3032114" y="3274096"/>
            <a:ext cx="2723622" cy="3917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/>
              <a:t>Team 3</a:t>
            </a:r>
            <a:endParaRPr lang="en-US"/>
          </a:p>
          <a:p>
            <a:pPr marL="0" indent="0"/>
            <a:br>
              <a:rPr lang="en" sz="1400"/>
            </a:br>
            <a:r>
              <a:rPr lang="en" sz="1400"/>
              <a:t>Minh Khoi Phan</a:t>
            </a:r>
            <a:endParaRPr lang="en"/>
          </a:p>
          <a:p>
            <a:pPr marL="0" indent="0"/>
            <a:r>
              <a:rPr lang="en" sz="1400"/>
              <a:t>Shane Duffney</a:t>
            </a:r>
          </a:p>
          <a:p>
            <a:pPr marL="0" indent="0"/>
            <a:r>
              <a:rPr lang="en" sz="1400"/>
              <a:t>Naomi Mendoza</a:t>
            </a:r>
          </a:p>
          <a:p>
            <a:pPr marL="0" indent="0"/>
            <a:r>
              <a:rPr lang="en-US" sz="1400"/>
              <a:t>Raziel Mendoza </a:t>
            </a:r>
          </a:p>
          <a:p>
            <a:pPr marL="0" indent="0"/>
            <a:r>
              <a:rPr lang="en-US" sz="1400"/>
              <a:t>Angelica Cuadrado</a:t>
            </a:r>
            <a:endParaRPr lang="en"/>
          </a:p>
          <a:p>
            <a:pPr marL="0" indent="0"/>
            <a:endParaRPr lang="en" sz="1400"/>
          </a:p>
        </p:txBody>
      </p:sp>
      <p:pic>
        <p:nvPicPr>
          <p:cNvPr id="3" name="Picture 2" descr="Squid PNG Фотографии - PNG All">
            <a:extLst>
              <a:ext uri="{FF2B5EF4-FFF2-40B4-BE49-F238E27FC236}">
                <a16:creationId xmlns:a16="http://schemas.microsoft.com/office/drawing/2014/main" id="{9F9DAF62-8449-BAB0-44B1-5556A7888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80000">
            <a:off x="327991" y="428211"/>
            <a:ext cx="1400175" cy="1457325"/>
          </a:xfrm>
          <a:prstGeom prst="rect">
            <a:avLst/>
          </a:prstGeom>
        </p:spPr>
      </p:pic>
      <p:pic>
        <p:nvPicPr>
          <p:cNvPr id="7" name="Picture 6" descr="Squids Basic Rounded Flat icon">
            <a:extLst>
              <a:ext uri="{FF2B5EF4-FFF2-40B4-BE49-F238E27FC236}">
                <a16:creationId xmlns:a16="http://schemas.microsoft.com/office/drawing/2014/main" id="{349BB370-BF79-2DE7-9549-DE3C4906B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360000">
            <a:off x="7084276" y="530626"/>
            <a:ext cx="1701661" cy="1713671"/>
          </a:xfrm>
          <a:prstGeom prst="rect">
            <a:avLst/>
          </a:prstGeom>
        </p:spPr>
      </p:pic>
      <p:pic>
        <p:nvPicPr>
          <p:cNvPr id="5" name="Picture 4" descr="Squid Basic Rounded Flat icon">
            <a:extLst>
              <a:ext uri="{FF2B5EF4-FFF2-40B4-BE49-F238E27FC236}">
                <a16:creationId xmlns:a16="http://schemas.microsoft.com/office/drawing/2014/main" id="{FF3772B8-1B5A-490A-5373-567A758DD3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7229" y="4352813"/>
            <a:ext cx="390641" cy="293569"/>
          </a:xfrm>
          <a:prstGeom prst="rect">
            <a:avLst/>
          </a:prstGeom>
        </p:spPr>
      </p:pic>
      <p:pic>
        <p:nvPicPr>
          <p:cNvPr id="8" name="Picture 7" descr="Octopus Vector SVG Icon - PNG Repo Free PNG Icons">
            <a:extLst>
              <a:ext uri="{FF2B5EF4-FFF2-40B4-BE49-F238E27FC236}">
                <a16:creationId xmlns:a16="http://schemas.microsoft.com/office/drawing/2014/main" id="{FA09FFEC-8BAE-961E-4CE6-C0EA8D64A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60000">
            <a:off x="5246775" y="4221005"/>
            <a:ext cx="227486" cy="236271"/>
          </a:xfrm>
          <a:prstGeom prst="rect">
            <a:avLst/>
          </a:prstGeom>
        </p:spPr>
      </p:pic>
      <p:pic>
        <p:nvPicPr>
          <p:cNvPr id="10" name="Picture 9" descr="Kraken Basic Rounded Flat icon">
            <a:extLst>
              <a:ext uri="{FF2B5EF4-FFF2-40B4-BE49-F238E27FC236}">
                <a16:creationId xmlns:a16="http://schemas.microsoft.com/office/drawing/2014/main" id="{9FD9F2D0-D7C3-D7D0-3ABE-FC23ED318D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5120000">
            <a:off x="3381749" y="3959462"/>
            <a:ext cx="199933" cy="181237"/>
          </a:xfrm>
          <a:prstGeom prst="rect">
            <a:avLst/>
          </a:prstGeom>
        </p:spPr>
      </p:pic>
      <p:pic>
        <p:nvPicPr>
          <p:cNvPr id="12" name="Picture 11" descr="Squid PNG Фотографии - PNG All">
            <a:extLst>
              <a:ext uri="{FF2B5EF4-FFF2-40B4-BE49-F238E27FC236}">
                <a16:creationId xmlns:a16="http://schemas.microsoft.com/office/drawing/2014/main" id="{725563A3-0CDB-C2FE-C622-DAB5DE9D4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80000">
            <a:off x="3412990" y="3524764"/>
            <a:ext cx="269600" cy="289478"/>
          </a:xfrm>
          <a:prstGeom prst="rect">
            <a:avLst/>
          </a:prstGeom>
        </p:spPr>
      </p:pic>
      <p:pic>
        <p:nvPicPr>
          <p:cNvPr id="14" name="Picture 13" descr="Squids Basic Rounded Flat icon">
            <a:extLst>
              <a:ext uri="{FF2B5EF4-FFF2-40B4-BE49-F238E27FC236}">
                <a16:creationId xmlns:a16="http://schemas.microsoft.com/office/drawing/2014/main" id="{5A2AA0B3-A0C7-97F1-0F29-919ECA0489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100000">
            <a:off x="5088115" y="3684784"/>
            <a:ext cx="209114" cy="21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7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28"/>
          <p:cNvSpPr txBox="1">
            <a:spLocks noGrp="1"/>
          </p:cNvSpPr>
          <p:nvPr>
            <p:ph type="title"/>
          </p:nvPr>
        </p:nvSpPr>
        <p:spPr>
          <a:xfrm>
            <a:off x="686436" y="253334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/>
              <a:t>TABLE OF CONTENTS</a:t>
            </a:r>
            <a:endParaRPr lang="en-US" sz="2400" b="1"/>
          </a:p>
        </p:txBody>
      </p:sp>
      <p:sp>
        <p:nvSpPr>
          <p:cNvPr id="1459" name="Google Shape;1459;p28"/>
          <p:cNvSpPr txBox="1">
            <a:spLocks noGrp="1"/>
          </p:cNvSpPr>
          <p:nvPr>
            <p:ph type="title" idx="7"/>
          </p:nvPr>
        </p:nvSpPr>
        <p:spPr>
          <a:xfrm>
            <a:off x="31555" y="888386"/>
            <a:ext cx="770803" cy="291014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sz="1800" baseline="-25000"/>
              <a:t>01</a:t>
            </a:r>
            <a:br>
              <a:rPr lang="en-US" sz="1800" baseline="-25000"/>
            </a:br>
            <a:br>
              <a:rPr lang="en" sz="1800" baseline="-25000"/>
            </a:br>
            <a:r>
              <a:rPr lang="en" sz="1800" baseline="-25000"/>
              <a:t>02</a:t>
            </a:r>
            <a:br>
              <a:rPr lang="en-US" sz="1800" baseline="-25000"/>
            </a:br>
            <a:br>
              <a:rPr lang="en" sz="1800" baseline="-25000"/>
            </a:br>
            <a:r>
              <a:rPr lang="en" sz="1800" baseline="-25000"/>
              <a:t>03</a:t>
            </a:r>
            <a:br>
              <a:rPr lang="en" sz="1800" baseline="-25000"/>
            </a:br>
            <a:br>
              <a:rPr lang="en" sz="1800" baseline="-25000"/>
            </a:br>
            <a:r>
              <a:rPr lang="en" sz="1800" baseline="-25000"/>
              <a:t>04</a:t>
            </a:r>
            <a:br>
              <a:rPr lang="en-US" sz="1800" baseline="-25000"/>
            </a:br>
            <a:br>
              <a:rPr lang="en" sz="1800" baseline="-25000"/>
            </a:br>
            <a:r>
              <a:rPr lang="en" sz="1800" baseline="-25000"/>
              <a:t>05</a:t>
            </a:r>
          </a:p>
        </p:txBody>
      </p:sp>
      <p:pic>
        <p:nvPicPr>
          <p:cNvPr id="25" name="Picture 24" descr="Octopus Vector SVG Icon - PNG Repo Free PNG Icons">
            <a:extLst>
              <a:ext uri="{FF2B5EF4-FFF2-40B4-BE49-F238E27FC236}">
                <a16:creationId xmlns:a16="http://schemas.microsoft.com/office/drawing/2014/main" id="{549EB5AF-73BB-5AC4-F8EC-1F9DD2E1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800000">
            <a:off x="6637625" y="2155614"/>
            <a:ext cx="2438400" cy="23774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F51C56-2795-E124-FE04-018F02EC8A74}"/>
              </a:ext>
            </a:extLst>
          </p:cNvPr>
          <p:cNvSpPr txBox="1"/>
          <p:nvPr/>
        </p:nvSpPr>
        <p:spPr>
          <a:xfrm>
            <a:off x="748067" y="1157101"/>
            <a:ext cx="8288402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solidFill>
                  <a:schemeClr val="tx1"/>
                </a:solidFill>
                <a:latin typeface="Press Start 2P"/>
              </a:rPr>
              <a:t>Feedback Collection and Suggested Additional Features</a:t>
            </a:r>
            <a:endParaRPr lang="en-US" sz="1200">
              <a:solidFill>
                <a:schemeClr val="tx1"/>
              </a:solidFill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r>
              <a:rPr lang="en-US" sz="1200">
                <a:solidFill>
                  <a:schemeClr val="tx1"/>
                </a:solidFill>
                <a:latin typeface="Press Start 2P"/>
              </a:rPr>
              <a:t>Analysis of Suggestions</a:t>
            </a:r>
            <a:endParaRPr lang="en-US" sz="1200">
              <a:solidFill>
                <a:schemeClr val="tx1"/>
              </a:solidFill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r>
              <a:rPr lang="en-US" sz="1200">
                <a:solidFill>
                  <a:schemeClr val="tx1"/>
                </a:solidFill>
                <a:latin typeface="Press Start 2P"/>
              </a:rPr>
              <a:t>Features of the Beta Build</a:t>
            </a:r>
            <a:endParaRPr lang="en-US" sz="1200">
              <a:solidFill>
                <a:schemeClr val="tx1"/>
              </a:solidFill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r>
              <a:rPr lang="en-US" sz="1200">
                <a:solidFill>
                  <a:schemeClr val="tx1"/>
                </a:solidFill>
                <a:latin typeface="Press Start 2P"/>
              </a:rPr>
              <a:t>Identified bugs.</a:t>
            </a: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endParaRPr lang="en-US" sz="1200">
              <a:solidFill>
                <a:schemeClr val="tx1"/>
              </a:solidFill>
              <a:latin typeface="Press Start 2P"/>
            </a:endParaRPr>
          </a:p>
          <a:p>
            <a:r>
              <a:rPr lang="en-US" sz="1200">
                <a:solidFill>
                  <a:schemeClr val="tx1"/>
                </a:solidFill>
                <a:latin typeface="Press Start 2P"/>
              </a:rPr>
              <a:t>Gameplay Demonstration</a:t>
            </a:r>
            <a:endParaRPr lang="en-US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0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957708" y="3565892"/>
            <a:ext cx="7183935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2400">
                <a:solidFill>
                  <a:schemeClr val="tx1"/>
                </a:solidFill>
              </a:rPr>
              <a:t>Feedback Collection and Suggested Additional Features</a:t>
            </a:r>
          </a:p>
          <a:p>
            <a:endParaRPr lang="en">
              <a:solidFill>
                <a:schemeClr val="tx1"/>
              </a:solidFill>
            </a:endParaRPr>
          </a:p>
          <a:p>
            <a:endParaRPr lang="en">
              <a:solidFill>
                <a:schemeClr val="tx1"/>
              </a:solidFill>
            </a:endParaRPr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3949050" y="1403063"/>
            <a:ext cx="1245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pic>
        <p:nvPicPr>
          <p:cNvPr id="3" name="Picture 2" descr="Octopus Vector SVG Icon - PNG Repo Free PNG Icons">
            <a:extLst>
              <a:ext uri="{FF2B5EF4-FFF2-40B4-BE49-F238E27FC236}">
                <a16:creationId xmlns:a16="http://schemas.microsoft.com/office/drawing/2014/main" id="{23461625-233F-2592-518C-C52670970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860" y="3356610"/>
            <a:ext cx="1775460" cy="1760220"/>
          </a:xfrm>
          <a:prstGeom prst="rect">
            <a:avLst/>
          </a:prstGeom>
        </p:spPr>
      </p:pic>
      <p:pic>
        <p:nvPicPr>
          <p:cNvPr id="5" name="Picture 4" descr="Kraken Basic Rounded Flat icon">
            <a:extLst>
              <a:ext uri="{FF2B5EF4-FFF2-40B4-BE49-F238E27FC236}">
                <a16:creationId xmlns:a16="http://schemas.microsoft.com/office/drawing/2014/main" id="{91E0D862-6DB8-E548-A5AB-DFBFEEB27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240000">
            <a:off x="1082452" y="843214"/>
            <a:ext cx="1226847" cy="12706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Google Shape;1886;p30"/>
          <p:cNvSpPr txBox="1">
            <a:spLocks noGrp="1"/>
          </p:cNvSpPr>
          <p:nvPr>
            <p:ph type="title"/>
          </p:nvPr>
        </p:nvSpPr>
        <p:spPr>
          <a:xfrm>
            <a:off x="979129" y="479163"/>
            <a:ext cx="7183477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"/>
              <a:t>Feeback Received</a:t>
            </a:r>
            <a:endParaRPr lang="en-US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E1F82192-B64D-9006-5EC9-AD6359B1D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4084" y="1520125"/>
            <a:ext cx="4618334" cy="799245"/>
          </a:xfrm>
        </p:spPr>
        <p:txBody>
          <a:bodyPr/>
          <a:lstStyle/>
          <a:p>
            <a:endParaRPr lang="en-US" sz="1400" b="1"/>
          </a:p>
          <a:p>
            <a:pPr marL="596900" lvl="1" indent="0">
              <a:buNone/>
            </a:pPr>
            <a:endParaRPr lang="en-US" sz="1400"/>
          </a:p>
          <a:p>
            <a:endParaRPr lang="en-US" sz="1400"/>
          </a:p>
        </p:txBody>
      </p:sp>
      <p:pic>
        <p:nvPicPr>
          <p:cNvPr id="16" name="Picture 15" descr="Squid Basic Rounded Flat icon">
            <a:extLst>
              <a:ext uri="{FF2B5EF4-FFF2-40B4-BE49-F238E27FC236}">
                <a16:creationId xmlns:a16="http://schemas.microsoft.com/office/drawing/2014/main" id="{FA2DD365-46B1-FA3B-5A86-B82BBD0F3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5238" y="3108722"/>
            <a:ext cx="1533525" cy="1533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B44E53-716F-A1B9-ADED-10041CD3B7E6}"/>
              </a:ext>
            </a:extLst>
          </p:cNvPr>
          <p:cNvSpPr txBox="1"/>
          <p:nvPr/>
        </p:nvSpPr>
        <p:spPr>
          <a:xfrm>
            <a:off x="346484" y="1764269"/>
            <a:ext cx="366918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accent6"/>
                </a:solidFill>
                <a:latin typeface="Press Start 2P"/>
              </a:rPr>
              <a:t>Add Tutorial Screen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46313B-72F3-72A9-DB2F-EBAC7EEE339B}"/>
              </a:ext>
            </a:extLst>
          </p:cNvPr>
          <p:cNvSpPr txBox="1"/>
          <p:nvPr/>
        </p:nvSpPr>
        <p:spPr>
          <a:xfrm>
            <a:off x="4573903" y="1764269"/>
            <a:ext cx="462728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accent6"/>
                </a:solidFill>
                <a:latin typeface="Press Start 2P"/>
              </a:rPr>
              <a:t>Make Font More Visible</a:t>
            </a:r>
          </a:p>
        </p:txBody>
      </p:sp>
    </p:spTree>
    <p:extLst>
      <p:ext uri="{BB962C8B-B14F-4D97-AF65-F5344CB8AC3E}">
        <p14:creationId xmlns:p14="http://schemas.microsoft.com/office/powerpoint/2010/main" val="1168857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2002481" y="2167396"/>
            <a:ext cx="5067600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>
                <a:solidFill>
                  <a:schemeClr val="tx1"/>
                </a:solidFill>
              </a:rPr>
              <a:t>Analysis of Suggestions</a:t>
            </a:r>
            <a:endParaRPr lang="en-US"/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3913331" y="1224469"/>
            <a:ext cx="1245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id="5" name="Picture 4" descr="Kraken Basic Rounded Flat icon">
            <a:extLst>
              <a:ext uri="{FF2B5EF4-FFF2-40B4-BE49-F238E27FC236}">
                <a16:creationId xmlns:a16="http://schemas.microsoft.com/office/drawing/2014/main" id="{A6FE0CC8-B4C6-0C9C-579E-0865FCF36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60000">
            <a:off x="930455" y="3493037"/>
            <a:ext cx="1188720" cy="1158240"/>
          </a:xfrm>
          <a:prstGeom prst="rect">
            <a:avLst/>
          </a:prstGeom>
        </p:spPr>
      </p:pic>
      <p:pic>
        <p:nvPicPr>
          <p:cNvPr id="4" name="Picture 3" descr="Squids Basic Rounded Flat icon">
            <a:extLst>
              <a:ext uri="{FF2B5EF4-FFF2-40B4-BE49-F238E27FC236}">
                <a16:creationId xmlns:a16="http://schemas.microsoft.com/office/drawing/2014/main" id="{3F83604D-07E4-AE9C-2B34-E1D083D86C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360000">
            <a:off x="6920144" y="705891"/>
            <a:ext cx="1549857" cy="1561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82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28"/>
          <p:cNvSpPr txBox="1">
            <a:spLocks noGrp="1"/>
          </p:cNvSpPr>
          <p:nvPr>
            <p:ph type="title"/>
          </p:nvPr>
        </p:nvSpPr>
        <p:spPr>
          <a:xfrm>
            <a:off x="713225" y="449788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Evaluation of Suggestions</a:t>
            </a:r>
            <a:endParaRPr lang="en-US"/>
          </a:p>
        </p:txBody>
      </p:sp>
      <p:sp>
        <p:nvSpPr>
          <p:cNvPr id="1453" name="Google Shape;1453;p28"/>
          <p:cNvSpPr txBox="1">
            <a:spLocks noGrp="1"/>
          </p:cNvSpPr>
          <p:nvPr>
            <p:ph type="subTitle" idx="1"/>
          </p:nvPr>
        </p:nvSpPr>
        <p:spPr>
          <a:xfrm>
            <a:off x="1073025" y="1512124"/>
            <a:ext cx="2049031" cy="105190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Add Tutorial</a:t>
            </a:r>
          </a:p>
        </p:txBody>
      </p:sp>
      <p:sp>
        <p:nvSpPr>
          <p:cNvPr id="1454" name="Google Shape;1454;p28"/>
          <p:cNvSpPr txBox="1">
            <a:spLocks noGrp="1"/>
          </p:cNvSpPr>
          <p:nvPr>
            <p:ph type="subTitle" idx="2"/>
          </p:nvPr>
        </p:nvSpPr>
        <p:spPr>
          <a:xfrm>
            <a:off x="1077126" y="3079536"/>
            <a:ext cx="2317163" cy="10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/>
            <a:r>
              <a:rPr lang="en" sz="1400" b="1"/>
              <a:t>Feasibility:</a:t>
            </a:r>
            <a:r>
              <a:rPr lang="en" sz="1400"/>
              <a:t> High</a:t>
            </a:r>
          </a:p>
          <a:p>
            <a:pPr marL="0" indent="0" algn="l"/>
            <a:endParaRPr lang="en" sz="1400"/>
          </a:p>
          <a:p>
            <a:pPr marL="0" indent="0" algn="l"/>
            <a:r>
              <a:rPr lang="en" sz="1400" b="1"/>
              <a:t>Reasoning:</a:t>
            </a:r>
            <a:r>
              <a:rPr lang="en" sz="1400"/>
              <a:t> Needed for player to understand gameplay</a:t>
            </a:r>
          </a:p>
          <a:p>
            <a:pPr marL="0" indent="0" algn="l"/>
            <a:endParaRPr lang="en" sz="1400"/>
          </a:p>
        </p:txBody>
      </p:sp>
      <p:sp>
        <p:nvSpPr>
          <p:cNvPr id="1459" name="Google Shape;1459;p28"/>
          <p:cNvSpPr txBox="1">
            <a:spLocks noGrp="1"/>
          </p:cNvSpPr>
          <p:nvPr>
            <p:ph type="title" idx="7"/>
          </p:nvPr>
        </p:nvSpPr>
        <p:spPr>
          <a:xfrm>
            <a:off x="1628406" y="1230441"/>
            <a:ext cx="941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/>
              <a:t>01</a:t>
            </a:r>
            <a:endParaRPr lang="en-US"/>
          </a:p>
        </p:txBody>
      </p:sp>
      <p:sp>
        <p:nvSpPr>
          <p:cNvPr id="1460" name="Google Shape;1460;p28"/>
          <p:cNvSpPr txBox="1">
            <a:spLocks noGrp="1"/>
          </p:cNvSpPr>
          <p:nvPr>
            <p:ph type="title" idx="8"/>
          </p:nvPr>
        </p:nvSpPr>
        <p:spPr>
          <a:xfrm>
            <a:off x="5768351" y="1286654"/>
            <a:ext cx="941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68867466-BCC2-34B0-787E-FDDB6D92AC5F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5259668" y="3076531"/>
            <a:ext cx="1951045" cy="565097"/>
          </a:xfrm>
        </p:spPr>
        <p:txBody>
          <a:bodyPr/>
          <a:lstStyle/>
          <a:p>
            <a:pPr marL="0" indent="0" algn="l"/>
            <a:r>
              <a:rPr lang="en-US" sz="1400" b="1"/>
              <a:t>Feasibility:</a:t>
            </a:r>
            <a:r>
              <a:rPr lang="en-US" sz="1400"/>
              <a:t> High</a:t>
            </a:r>
          </a:p>
          <a:p>
            <a:pPr marL="0" indent="0" algn="l"/>
            <a:endParaRPr lang="en-US" sz="1400"/>
          </a:p>
          <a:p>
            <a:pPr marL="0" indent="0" algn="l"/>
            <a:r>
              <a:rPr lang="en-US" sz="1400" b="1"/>
              <a:t>Reasoning:</a:t>
            </a:r>
            <a:r>
              <a:rPr lang="en-US" sz="1400"/>
              <a:t> Enhances user accessibility</a:t>
            </a:r>
          </a:p>
          <a:p>
            <a:pPr algn="l"/>
            <a:endParaRPr lang="en-US" sz="1400"/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7F116DE4-8235-7168-E558-449A27EB2779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4410469" y="1570206"/>
            <a:ext cx="3658078" cy="1342413"/>
          </a:xfr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b="1"/>
              <a:t>Make Font More </a:t>
            </a:r>
            <a:r>
              <a:rPr lang="en-US" b="1" err="1"/>
              <a:t>Visable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374528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blue circle with yellow text on it&#10;&#10;Description automatically generated">
            <a:extLst>
              <a:ext uri="{FF2B5EF4-FFF2-40B4-BE49-F238E27FC236}">
                <a16:creationId xmlns:a16="http://schemas.microsoft.com/office/drawing/2014/main" id="{D12E7200-7875-81AF-8B2D-ECFA63617B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12" t="6785" r="32675" b="-1163"/>
          <a:stretch/>
        </p:blipFill>
        <p:spPr>
          <a:xfrm>
            <a:off x="445427" y="1622903"/>
            <a:ext cx="1186234" cy="1541455"/>
          </a:xfrm>
          <a:prstGeom prst="rect">
            <a:avLst/>
          </a:prstGeom>
        </p:spPr>
      </p:pic>
      <p:pic>
        <p:nvPicPr>
          <p:cNvPr id="13" name="Picture 12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CA6746-FC5E-7BDE-A5F8-304AA8EDD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389" y="789499"/>
            <a:ext cx="7024840" cy="366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895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2038200" y="3319326"/>
            <a:ext cx="5067600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>
                <a:solidFill>
                  <a:schemeClr val="tx1"/>
                </a:solidFill>
              </a:rPr>
              <a:t>Features of the Beta Build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3949050" y="1403063"/>
            <a:ext cx="1245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id="5" name="Picture 4" descr="Kraken Basic Rounded Flat icon">
            <a:extLst>
              <a:ext uri="{FF2B5EF4-FFF2-40B4-BE49-F238E27FC236}">
                <a16:creationId xmlns:a16="http://schemas.microsoft.com/office/drawing/2014/main" id="{A6FE0CC8-B4C6-0C9C-579E-0865FCF36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5720000">
            <a:off x="6671928" y="3616720"/>
            <a:ext cx="1188720" cy="1158240"/>
          </a:xfrm>
          <a:prstGeom prst="rect">
            <a:avLst/>
          </a:prstGeom>
        </p:spPr>
      </p:pic>
      <p:pic>
        <p:nvPicPr>
          <p:cNvPr id="4" name="Picture 3" descr="Octopus Vector SVG Icon - PNG Repo Free PNG Icons">
            <a:extLst>
              <a:ext uri="{FF2B5EF4-FFF2-40B4-BE49-F238E27FC236}">
                <a16:creationId xmlns:a16="http://schemas.microsoft.com/office/drawing/2014/main" id="{63C049FD-961F-8ADE-02FE-5C60A0BE73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220000">
            <a:off x="961974" y="616087"/>
            <a:ext cx="1775460" cy="176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07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Google Shape;1886;p30"/>
          <p:cNvSpPr txBox="1">
            <a:spLocks noGrp="1"/>
          </p:cNvSpPr>
          <p:nvPr>
            <p:ph type="title"/>
          </p:nvPr>
        </p:nvSpPr>
        <p:spPr>
          <a:xfrm>
            <a:off x="2713253" y="255554"/>
            <a:ext cx="3699643" cy="5835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"/>
              <a:t>Features</a:t>
            </a:r>
          </a:p>
        </p:txBody>
      </p:sp>
      <p:sp>
        <p:nvSpPr>
          <p:cNvPr id="1887" name="Google Shape;1887;p30"/>
          <p:cNvSpPr txBox="1">
            <a:spLocks noGrp="1"/>
          </p:cNvSpPr>
          <p:nvPr>
            <p:ph type="subTitle" idx="1"/>
          </p:nvPr>
        </p:nvSpPr>
        <p:spPr>
          <a:xfrm>
            <a:off x="2384049" y="1228891"/>
            <a:ext cx="4469104" cy="3371238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" sz="1200">
              <a:latin typeface="Press Start 2P"/>
            </a:endParaRPr>
          </a:p>
          <a:p>
            <a:pPr marL="0" indent="0">
              <a:buNone/>
            </a:pPr>
            <a:r>
              <a:rPr lang="en" sz="1200"/>
              <a:t>    </a:t>
            </a:r>
          </a:p>
          <a:p>
            <a:pPr marL="0" indent="0">
              <a:buNone/>
            </a:pPr>
            <a:endParaRPr lang="en" sz="1200"/>
          </a:p>
          <a:p>
            <a:pPr marL="0" indent="0">
              <a:buNone/>
            </a:pPr>
            <a:endParaRPr lang="en" sz="1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EA20A3-33B1-169C-54FF-0AB4812FC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294" y="1649057"/>
            <a:ext cx="187926" cy="174797"/>
          </a:xfrm>
          <a:prstGeom prst="rect">
            <a:avLst/>
          </a:prstGeom>
        </p:spPr>
      </p:pic>
      <p:pic>
        <p:nvPicPr>
          <p:cNvPr id="10" name="Picture 9" descr="Kraken Basic Rounded Flat icon">
            <a:extLst>
              <a:ext uri="{FF2B5EF4-FFF2-40B4-BE49-F238E27FC236}">
                <a16:creationId xmlns:a16="http://schemas.microsoft.com/office/drawing/2014/main" id="{C4EC820C-89BA-9210-2DB3-F676167D46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760000">
            <a:off x="978357" y="1274364"/>
            <a:ext cx="742774" cy="686919"/>
          </a:xfrm>
          <a:prstGeom prst="rect">
            <a:avLst/>
          </a:prstGeom>
        </p:spPr>
      </p:pic>
      <p:pic>
        <p:nvPicPr>
          <p:cNvPr id="12" name="Picture 11" descr="Squid PNG Фотографии - PNG All">
            <a:extLst>
              <a:ext uri="{FF2B5EF4-FFF2-40B4-BE49-F238E27FC236}">
                <a16:creationId xmlns:a16="http://schemas.microsoft.com/office/drawing/2014/main" id="{CAE30EA2-5F7A-34A1-4E01-EE491B3B96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05848" y="2901425"/>
            <a:ext cx="1262485" cy="1313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D0845B-E194-5602-67F6-EDADCEC07A6F}"/>
              </a:ext>
            </a:extLst>
          </p:cNvPr>
          <p:cNvSpPr txBox="1"/>
          <p:nvPr/>
        </p:nvSpPr>
        <p:spPr>
          <a:xfrm>
            <a:off x="3267732" y="1608700"/>
            <a:ext cx="276594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accent6"/>
                </a:solidFill>
                <a:latin typeface="Press Start 2P"/>
              </a:rPr>
              <a:t>Rounds Display Properly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3E8494-3A1B-F87B-20DA-CB1A15B89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293" y="2286138"/>
            <a:ext cx="187926" cy="1747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167A5-9636-30F1-664E-E4FF9C40FCCF}"/>
              </a:ext>
            </a:extLst>
          </p:cNvPr>
          <p:cNvSpPr txBox="1"/>
          <p:nvPr/>
        </p:nvSpPr>
        <p:spPr>
          <a:xfrm>
            <a:off x="3267731" y="2198937"/>
            <a:ext cx="276594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chemeClr val="accent6"/>
                </a:solidFill>
                <a:latin typeface="Press Start 2P"/>
              </a:rPr>
              <a:t>Improved End Screen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2038200" y="2466420"/>
            <a:ext cx="5067600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>
                <a:solidFill>
                  <a:schemeClr val="tx1"/>
                </a:solidFill>
              </a:rPr>
              <a:t>Identified bugs</a:t>
            </a:r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3949050" y="1403063"/>
            <a:ext cx="1245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pic>
        <p:nvPicPr>
          <p:cNvPr id="4" name="Picture 3" descr="Octopus Vector SVG Icon - PNG Repo Free PNG Icons">
            <a:extLst>
              <a:ext uri="{FF2B5EF4-FFF2-40B4-BE49-F238E27FC236}">
                <a16:creationId xmlns:a16="http://schemas.microsoft.com/office/drawing/2014/main" id="{63C049FD-961F-8ADE-02FE-5C60A0BE7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60000">
            <a:off x="6613028" y="3127186"/>
            <a:ext cx="1775460" cy="1760220"/>
          </a:xfrm>
          <a:prstGeom prst="rect">
            <a:avLst/>
          </a:prstGeom>
        </p:spPr>
      </p:pic>
      <p:pic>
        <p:nvPicPr>
          <p:cNvPr id="7" name="Picture 6" descr="Squids Basic Rounded Flat icon">
            <a:extLst>
              <a:ext uri="{FF2B5EF4-FFF2-40B4-BE49-F238E27FC236}">
                <a16:creationId xmlns:a16="http://schemas.microsoft.com/office/drawing/2014/main" id="{918BE19A-30CC-C340-2F8A-DFF7D9B606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360000">
            <a:off x="1185500" y="547211"/>
            <a:ext cx="1701661" cy="1713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11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9" name="Google Shape;2259;p34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BUGS</a:t>
            </a:r>
            <a:endParaRPr lang="en-US"/>
          </a:p>
        </p:txBody>
      </p:sp>
      <p:sp>
        <p:nvSpPr>
          <p:cNvPr id="2261" name="Google Shape;2261;p34"/>
          <p:cNvSpPr txBox="1"/>
          <p:nvPr/>
        </p:nvSpPr>
        <p:spPr>
          <a:xfrm flipH="1">
            <a:off x="1305450" y="983804"/>
            <a:ext cx="9378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2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01</a:t>
            </a:r>
            <a:endParaRPr sz="2300">
              <a:solidFill>
                <a:schemeClr val="lt2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2263" name="Google Shape;2263;p34"/>
          <p:cNvSpPr txBox="1"/>
          <p:nvPr/>
        </p:nvSpPr>
        <p:spPr>
          <a:xfrm flipH="1">
            <a:off x="5869984" y="983804"/>
            <a:ext cx="9378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2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02</a:t>
            </a:r>
            <a:endParaRPr sz="2300">
              <a:solidFill>
                <a:schemeClr val="lt2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2269" name="Google Shape;2269;p34"/>
          <p:cNvSpPr/>
          <p:nvPr/>
        </p:nvSpPr>
        <p:spPr>
          <a:xfrm>
            <a:off x="1746969" y="2104544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1" name="Google Shape;2271;p34"/>
          <p:cNvSpPr/>
          <p:nvPr/>
        </p:nvSpPr>
        <p:spPr>
          <a:xfrm>
            <a:off x="2670088" y="2136588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3" name="Google Shape;2273;p34"/>
          <p:cNvSpPr/>
          <p:nvPr/>
        </p:nvSpPr>
        <p:spPr>
          <a:xfrm>
            <a:off x="7768717" y="1864891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76" name="Google Shape;2276;p34"/>
          <p:cNvCxnSpPr>
            <a:stCxn id="2269" idx="0"/>
            <a:endCxn id="2261" idx="2"/>
          </p:cNvCxnSpPr>
          <p:nvPr/>
        </p:nvCxnSpPr>
        <p:spPr>
          <a:xfrm flipH="1" flipV="1">
            <a:off x="1774350" y="1639004"/>
            <a:ext cx="9369" cy="46554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7" name="Google Shape;2277;p34"/>
          <p:cNvCxnSpPr>
            <a:cxnSpLocks/>
          </p:cNvCxnSpPr>
          <p:nvPr/>
        </p:nvCxnSpPr>
        <p:spPr>
          <a:xfrm flipV="1">
            <a:off x="6282705" y="1653388"/>
            <a:ext cx="9369" cy="474919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78" name="Google Shape;2278;p34"/>
          <p:cNvSpPr/>
          <p:nvPr/>
        </p:nvSpPr>
        <p:spPr>
          <a:xfrm>
            <a:off x="6245954" y="2104544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887;p30">
            <a:extLst>
              <a:ext uri="{FF2B5EF4-FFF2-40B4-BE49-F238E27FC236}">
                <a16:creationId xmlns:a16="http://schemas.microsoft.com/office/drawing/2014/main" id="{32667971-2E72-22A5-44C4-3781E0B13D77}"/>
              </a:ext>
            </a:extLst>
          </p:cNvPr>
          <p:cNvSpPr txBox="1">
            <a:spLocks/>
          </p:cNvSpPr>
          <p:nvPr/>
        </p:nvSpPr>
        <p:spPr>
          <a:xfrm>
            <a:off x="481457" y="2207061"/>
            <a:ext cx="2603120" cy="1063339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rgbClr val="FFFFFF"/>
                </a:solidFill>
                <a:latin typeface="Press Start 2P"/>
              </a:rPr>
              <a:t>Ui display is not consistent at different aspect ratios</a:t>
            </a:r>
          </a:p>
        </p:txBody>
      </p:sp>
      <p:sp>
        <p:nvSpPr>
          <p:cNvPr id="3" name="Google Shape;1887;p30">
            <a:extLst>
              <a:ext uri="{FF2B5EF4-FFF2-40B4-BE49-F238E27FC236}">
                <a16:creationId xmlns:a16="http://schemas.microsoft.com/office/drawing/2014/main" id="{2D664555-EEA7-14A7-4CC4-42CBCDB3A63F}"/>
              </a:ext>
            </a:extLst>
          </p:cNvPr>
          <p:cNvSpPr txBox="1">
            <a:spLocks/>
          </p:cNvSpPr>
          <p:nvPr/>
        </p:nvSpPr>
        <p:spPr>
          <a:xfrm>
            <a:off x="4804739" y="2208478"/>
            <a:ext cx="3071562" cy="1138289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accent6"/>
                </a:solidFill>
                <a:latin typeface="Press Start 2P"/>
              </a:rPr>
              <a:t>Ui elements not displaying when needed</a:t>
            </a:r>
          </a:p>
          <a:p>
            <a:r>
              <a:rPr lang="en"/>
              <a:t> </a:t>
            </a:r>
          </a:p>
          <a:p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89402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2014796" y="1906395"/>
            <a:ext cx="5105700" cy="9870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CA" sz="2400" b="1">
                <a:solidFill>
                  <a:srgbClr val="FFFFFF"/>
                </a:solidFill>
              </a:rPr>
              <a:t>Gameplay Demonstration</a:t>
            </a:r>
          </a:p>
          <a:p>
            <a:endParaRPr lang="en-CA" sz="2400" b="1">
              <a:solidFill>
                <a:srgbClr val="FFFFFF"/>
              </a:solidFill>
            </a:endParaRPr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3943505" y="770466"/>
            <a:ext cx="1245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</a:t>
            </a:r>
            <a:r>
              <a:rPr lang="en-US"/>
              <a:t>5</a:t>
            </a:r>
            <a:endParaRPr/>
          </a:p>
        </p:txBody>
      </p:sp>
      <p:pic>
        <p:nvPicPr>
          <p:cNvPr id="2" name="Picture 1" descr="Squid Basic Rounded Flat icon">
            <a:extLst>
              <a:ext uri="{FF2B5EF4-FFF2-40B4-BE49-F238E27FC236}">
                <a16:creationId xmlns:a16="http://schemas.microsoft.com/office/drawing/2014/main" id="{12A04E0B-443A-9474-2178-3351B09B6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60000">
            <a:off x="7014519" y="359685"/>
            <a:ext cx="1531620" cy="1531620"/>
          </a:xfrm>
          <a:prstGeom prst="rect">
            <a:avLst/>
          </a:prstGeom>
        </p:spPr>
      </p:pic>
      <p:pic>
        <p:nvPicPr>
          <p:cNvPr id="5" name="Picture 4" descr="Kraken Basic Rounded Flat icon">
            <a:extLst>
              <a:ext uri="{FF2B5EF4-FFF2-40B4-BE49-F238E27FC236}">
                <a16:creationId xmlns:a16="http://schemas.microsoft.com/office/drawing/2014/main" id="{9696A4D7-9180-00F1-37A2-C331D8F31D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860000">
            <a:off x="885502" y="3211389"/>
            <a:ext cx="1562100" cy="1478280"/>
          </a:xfrm>
          <a:prstGeom prst="rect">
            <a:avLst/>
          </a:prstGeom>
        </p:spPr>
      </p:pic>
      <p:sp>
        <p:nvSpPr>
          <p:cNvPr id="4" name="Google Shape;1466;p29">
            <a:extLst>
              <a:ext uri="{FF2B5EF4-FFF2-40B4-BE49-F238E27FC236}">
                <a16:creationId xmlns:a16="http://schemas.microsoft.com/office/drawing/2014/main" id="{74C4953D-FA9F-FD02-D09B-22D465DE31E0}"/>
              </a:ext>
            </a:extLst>
          </p:cNvPr>
          <p:cNvSpPr txBox="1">
            <a:spLocks/>
          </p:cNvSpPr>
          <p:nvPr/>
        </p:nvSpPr>
        <p:spPr>
          <a:xfrm>
            <a:off x="2371636" y="3157133"/>
            <a:ext cx="4403425" cy="11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0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ress Start 2P"/>
              <a:buNone/>
              <a:defRPr sz="36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59120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2038200" y="2729966"/>
            <a:ext cx="5067600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>
                <a:solidFill>
                  <a:schemeClr val="tx1"/>
                </a:solidFill>
              </a:rPr>
              <a:t>Conclusion and Planned Improvements</a:t>
            </a:r>
            <a:endParaRPr lang="en">
              <a:solidFill>
                <a:srgbClr val="F8F8F8"/>
              </a:solidFill>
            </a:endParaRP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"/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3949050" y="938719"/>
            <a:ext cx="12459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pic>
        <p:nvPicPr>
          <p:cNvPr id="2" name="Picture 1" descr="Squid Basic Rounded Flat icon">
            <a:extLst>
              <a:ext uri="{FF2B5EF4-FFF2-40B4-BE49-F238E27FC236}">
                <a16:creationId xmlns:a16="http://schemas.microsoft.com/office/drawing/2014/main" id="{12A04E0B-443A-9474-2178-3351B09B6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60000">
            <a:off x="377499" y="1639845"/>
            <a:ext cx="1531620" cy="1531620"/>
          </a:xfrm>
          <a:prstGeom prst="rect">
            <a:avLst/>
          </a:prstGeom>
        </p:spPr>
      </p:pic>
      <p:pic>
        <p:nvPicPr>
          <p:cNvPr id="3" name="Picture 2" descr="Octopus Vector SVG Icon - PNG Repo Free PNG Icons">
            <a:extLst>
              <a:ext uri="{FF2B5EF4-FFF2-40B4-BE49-F238E27FC236}">
                <a16:creationId xmlns:a16="http://schemas.microsoft.com/office/drawing/2014/main" id="{23461625-233F-2592-518C-C52670970E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1800000">
            <a:off x="7207800" y="1688448"/>
            <a:ext cx="1775460" cy="1760220"/>
          </a:xfrm>
          <a:prstGeom prst="rect">
            <a:avLst/>
          </a:prstGeom>
        </p:spPr>
      </p:pic>
      <p:pic>
        <p:nvPicPr>
          <p:cNvPr id="5" name="Picture 4" descr="Kraken Basic Rounded Flat icon">
            <a:extLst>
              <a:ext uri="{FF2B5EF4-FFF2-40B4-BE49-F238E27FC236}">
                <a16:creationId xmlns:a16="http://schemas.microsoft.com/office/drawing/2014/main" id="{9696A4D7-9180-00F1-37A2-C331D8F31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880000">
            <a:off x="3813296" y="3766236"/>
            <a:ext cx="1188720" cy="115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551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3D460A-9340-ACE0-8898-BB1B47BA1D10}"/>
              </a:ext>
            </a:extLst>
          </p:cNvPr>
          <p:cNvSpPr txBox="1"/>
          <p:nvPr/>
        </p:nvSpPr>
        <p:spPr>
          <a:xfrm>
            <a:off x="3970140" y="630436"/>
            <a:ext cx="6574035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CA" sz="2300">
                <a:solidFill>
                  <a:schemeClr val="dk1"/>
                </a:solidFill>
                <a:latin typeface="Press Start 2P"/>
                <a:sym typeface="Archivo"/>
              </a:rPr>
              <a:t>Conclusions</a:t>
            </a:r>
            <a:endParaRPr lang="en-US">
              <a:solidFill>
                <a:schemeClr val="dk1"/>
              </a:solidFill>
              <a:sym typeface="Archivo"/>
            </a:endParaRPr>
          </a:p>
          <a:p>
            <a:r>
              <a:rPr lang="en-CA" sz="2300">
                <a:solidFill>
                  <a:schemeClr val="dk1"/>
                </a:solidFill>
                <a:latin typeface="Press Start 2P"/>
                <a:sym typeface="Archivo"/>
              </a:rPr>
              <a:t> </a:t>
            </a:r>
            <a:r>
              <a:rPr lang="en-US" sz="2300">
                <a:solidFill>
                  <a:schemeClr val="dk1"/>
                </a:solidFill>
                <a:latin typeface="Press Start 2P"/>
                <a:sym typeface="Archivo"/>
              </a:rPr>
              <a:t> </a:t>
            </a:r>
            <a:endParaRPr lang="en-US">
              <a:solidFill>
                <a:schemeClr val="dk1"/>
              </a:solidFill>
            </a:endParaRPr>
          </a:p>
          <a:p>
            <a:endParaRPr lang="en-US" b="1">
              <a:solidFill>
                <a:schemeClr val="dk1"/>
              </a:solidFill>
              <a:latin typeface="Archivo"/>
              <a:cs typeface="Archivo"/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1.</a:t>
            </a:r>
            <a:r>
              <a:rPr lang="en-CA" b="1">
                <a:solidFill>
                  <a:schemeClr val="tx1"/>
                </a:solidFill>
                <a:sym typeface="Archivo"/>
              </a:rPr>
              <a:t>Improved Stability</a:t>
            </a:r>
            <a:endParaRPr lang="en-CA" b="1">
              <a:solidFill>
                <a:schemeClr val="tx1"/>
              </a:solidFill>
              <a:latin typeface="Archivo"/>
              <a:cs typeface="Archivo"/>
            </a:endParaRPr>
          </a:p>
          <a:p>
            <a:pPr lvl="1"/>
            <a:endParaRPr lang="en-US">
              <a:solidFill>
                <a:schemeClr val="dk1"/>
              </a:solidFill>
              <a:latin typeface="Archivo"/>
              <a:cs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2.</a:t>
            </a:r>
            <a:r>
              <a:rPr lang="en-CA" b="1">
                <a:solidFill>
                  <a:schemeClr val="tx1"/>
                </a:solidFill>
                <a:sym typeface="Archivo"/>
              </a:rPr>
              <a:t>Enhanced Player Experience</a:t>
            </a:r>
            <a:endParaRPr lang="en-US" b="1">
              <a:solidFill>
                <a:schemeClr val="tx1"/>
              </a:solidFill>
            </a:endParaRPr>
          </a:p>
          <a:p>
            <a:pPr marL="228600" lvl="1" indent="-228600">
              <a:buFont typeface="Courier New"/>
              <a:buChar char="•"/>
            </a:pPr>
            <a:endParaRPr lang="en-US">
              <a:solidFill>
                <a:schemeClr val="dk1"/>
              </a:solidFill>
              <a:latin typeface="Archivo"/>
              <a:cs typeface="Archivo"/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3.</a:t>
            </a:r>
            <a:r>
              <a:rPr lang="en-CA" b="1">
                <a:solidFill>
                  <a:schemeClr val="tx1"/>
                </a:solidFill>
                <a:sym typeface="Archivo"/>
              </a:rPr>
              <a:t>Performance Optimizations</a:t>
            </a:r>
            <a:endParaRPr lang="en-US" b="1">
              <a:solidFill>
                <a:schemeClr val="tx1"/>
              </a:solidFill>
            </a:endParaRPr>
          </a:p>
          <a:p>
            <a:pPr lvl="1"/>
            <a:endParaRPr lang="en-US" b="1">
              <a:solidFill>
                <a:schemeClr val="tx1"/>
              </a:solidFill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4.</a:t>
            </a:r>
            <a:r>
              <a:rPr lang="en-CA" b="1">
                <a:solidFill>
                  <a:schemeClr val="tx1"/>
                </a:solidFill>
                <a:sym typeface="Archivo"/>
              </a:rPr>
              <a:t>Responsive Feedback Loop</a:t>
            </a:r>
            <a:endParaRPr lang="en-CA" b="1">
              <a:solidFill>
                <a:schemeClr val="tx1"/>
              </a:solidFill>
            </a:endParaRPr>
          </a:p>
          <a:p>
            <a:pPr lvl="1"/>
            <a:endParaRPr lang="en-CA">
              <a:solidFill>
                <a:schemeClr val="dk1"/>
              </a:solidFill>
              <a:latin typeface="Archivo"/>
              <a:cs typeface="Archivo"/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5.</a:t>
            </a:r>
            <a:r>
              <a:rPr lang="en-CA" b="1">
                <a:solidFill>
                  <a:schemeClr val="tx1"/>
                </a:solidFill>
                <a:sym typeface="Archivo"/>
              </a:rPr>
              <a:t>Future Updates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4" name="Picture 3" descr="Octopus Vector SVG Icon - PNG Repo Free PNG Icons">
            <a:extLst>
              <a:ext uri="{FF2B5EF4-FFF2-40B4-BE49-F238E27FC236}">
                <a16:creationId xmlns:a16="http://schemas.microsoft.com/office/drawing/2014/main" id="{7781CD46-1175-2A5B-3BA9-AAA132112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60000">
            <a:off x="1093971" y="1412686"/>
            <a:ext cx="1775460" cy="17602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3D460A-9340-ACE0-8898-BB1B47BA1D10}"/>
              </a:ext>
            </a:extLst>
          </p:cNvPr>
          <p:cNvSpPr txBox="1"/>
          <p:nvPr/>
        </p:nvSpPr>
        <p:spPr>
          <a:xfrm>
            <a:off x="655440" y="458986"/>
            <a:ext cx="6574035" cy="37394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CA" sz="2300">
                <a:solidFill>
                  <a:schemeClr val="dk1"/>
                </a:solidFill>
                <a:latin typeface="Press Start 2P"/>
                <a:sym typeface="Archivo"/>
              </a:rPr>
              <a:t>Planned Improvements</a:t>
            </a:r>
          </a:p>
          <a:p>
            <a:endParaRPr lang="en-CA" sz="2300">
              <a:solidFill>
                <a:schemeClr val="dk1"/>
              </a:solidFill>
              <a:latin typeface="Press Start 2P"/>
            </a:endParaRPr>
          </a:p>
          <a:p>
            <a:r>
              <a:rPr lang="en-CA" sz="2300">
                <a:solidFill>
                  <a:schemeClr val="dk1"/>
                </a:solidFill>
                <a:latin typeface="Press Start 2P"/>
                <a:sym typeface="Archivo"/>
              </a:rPr>
              <a:t> </a:t>
            </a:r>
            <a:r>
              <a:rPr lang="en-US" sz="2300">
                <a:solidFill>
                  <a:schemeClr val="dk1"/>
                </a:solidFill>
                <a:latin typeface="Press Start 2P"/>
                <a:sym typeface="Archivo"/>
              </a:rPr>
              <a:t> </a:t>
            </a:r>
            <a:endParaRPr lang="en-US">
              <a:solidFill>
                <a:schemeClr val="dk1"/>
              </a:solidFill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1.</a:t>
            </a:r>
            <a:r>
              <a:rPr lang="en-CA" b="1">
                <a:solidFill>
                  <a:schemeClr val="tx1"/>
                </a:solidFill>
                <a:sym typeface="Archivo"/>
              </a:rPr>
              <a:t>Optimize collision detection for smoother player-enemy interactions.</a:t>
            </a:r>
            <a:endParaRPr lang="en-CA" b="1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dk1"/>
              </a:solidFill>
              <a:latin typeface="Archivo"/>
              <a:cs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2.</a:t>
            </a:r>
            <a:r>
              <a:rPr lang="en-CA" b="1">
                <a:solidFill>
                  <a:schemeClr val="tx1"/>
                </a:solidFill>
                <a:sym typeface="Archivo"/>
              </a:rPr>
              <a:t>Improve audio management to prevent overlapping and cutting-off sounds.</a:t>
            </a:r>
            <a:endParaRPr lang="en-US" b="1">
              <a:solidFill>
                <a:schemeClr val="tx1"/>
              </a:solidFill>
            </a:endParaRPr>
          </a:p>
          <a:p>
            <a:pPr marL="228600" lvl="1" indent="-228600">
              <a:buFont typeface="Courier New"/>
              <a:buChar char="•"/>
            </a:pPr>
            <a:endParaRPr lang="en-US" b="1">
              <a:solidFill>
                <a:schemeClr val="tx1"/>
              </a:solidFill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3.</a:t>
            </a:r>
            <a:r>
              <a:rPr lang="en-CA" b="1">
                <a:solidFill>
                  <a:schemeClr val="tx1"/>
                </a:solidFill>
                <a:sym typeface="Archivo"/>
              </a:rPr>
              <a:t>Enhance texture rendering to eliminate flickering on specific platforms.</a:t>
            </a:r>
            <a:endParaRPr lang="en-US" b="1">
              <a:solidFill>
                <a:schemeClr val="tx1"/>
              </a:solidFill>
            </a:endParaRPr>
          </a:p>
          <a:p>
            <a:pPr lvl="1"/>
            <a:endParaRPr lang="en-US" b="1">
              <a:solidFill>
                <a:schemeClr val="tx1"/>
              </a:solidFill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4.</a:t>
            </a:r>
            <a:r>
              <a:rPr lang="en-CA" b="1">
                <a:solidFill>
                  <a:schemeClr val="tx1"/>
                </a:solidFill>
                <a:sym typeface="Archivo"/>
              </a:rPr>
              <a:t>Redesign the health bar UI for better alignment across various screen resolutions.</a:t>
            </a:r>
            <a:endParaRPr lang="en-CA" b="1">
              <a:solidFill>
                <a:schemeClr val="tx1"/>
              </a:solidFill>
            </a:endParaRPr>
          </a:p>
          <a:p>
            <a:pPr lvl="1"/>
            <a:endParaRPr lang="en-CA">
              <a:solidFill>
                <a:schemeClr val="dk1"/>
              </a:solidFill>
              <a:latin typeface="Archivo"/>
              <a:cs typeface="Archivo"/>
              <a:sym typeface="Archivo"/>
            </a:endParaRPr>
          </a:p>
          <a:p>
            <a:pPr lvl="1"/>
            <a:r>
              <a:rPr lang="en-CA">
                <a:solidFill>
                  <a:schemeClr val="lt2"/>
                </a:solidFill>
                <a:latin typeface="Press Start 2P"/>
                <a:sym typeface="Archivo"/>
              </a:rPr>
              <a:t>5.</a:t>
            </a:r>
            <a:r>
              <a:rPr lang="en-CA" b="1">
                <a:solidFill>
                  <a:schemeClr val="tx1"/>
                </a:solidFill>
                <a:sym typeface="Archivo"/>
              </a:rPr>
              <a:t>Implement further performance optimizations to reduce frame rate drops in high-action scenes.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4" name="Picture 3" descr="Squid Basic Rounded Flat icon">
            <a:extLst>
              <a:ext uri="{FF2B5EF4-FFF2-40B4-BE49-F238E27FC236}">
                <a16:creationId xmlns:a16="http://schemas.microsoft.com/office/drawing/2014/main" id="{A7571873-6F9B-BAB2-AE6D-8452551F2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60000">
            <a:off x="7480428" y="1648009"/>
            <a:ext cx="1531620" cy="1531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540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EC0AAEE-387A-ED42-3E3D-4A7E5E9349FD}"/>
              </a:ext>
            </a:extLst>
          </p:cNvPr>
          <p:cNvSpPr/>
          <p:nvPr/>
        </p:nvSpPr>
        <p:spPr>
          <a:xfrm>
            <a:off x="4135210" y="1210355"/>
            <a:ext cx="4747531" cy="33779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Google Shape;1887;p30">
            <a:extLst>
              <a:ext uri="{FF2B5EF4-FFF2-40B4-BE49-F238E27FC236}">
                <a16:creationId xmlns:a16="http://schemas.microsoft.com/office/drawing/2014/main" id="{E673526A-ED43-3981-10A9-EAAA3E98CB2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93083" y="1206723"/>
            <a:ext cx="3366927" cy="3452880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200">
                <a:latin typeface="Press Start 2P"/>
                <a:sym typeface="Press Start 2P"/>
              </a:rPr>
              <a:t>PLAYER MOVEMENT</a:t>
            </a:r>
            <a:endParaRPr lang="en" sz="1200">
              <a:latin typeface="Press Start 2P"/>
            </a:endParaRPr>
          </a:p>
          <a:p>
            <a:pPr marL="0" indent="0" algn="l"/>
            <a:r>
              <a:rPr lang="en" sz="1400"/>
              <a:t>New animation states:</a:t>
            </a:r>
            <a:endParaRPr lang="en"/>
          </a:p>
          <a:p>
            <a:pPr marL="0" indent="0">
              <a:buNone/>
            </a:pPr>
            <a:r>
              <a:rPr lang="en" sz="1400"/>
              <a:t>            </a:t>
            </a:r>
          </a:p>
          <a:p>
            <a:pPr marL="0" indent="0" algn="l"/>
            <a:r>
              <a:rPr lang="en" sz="1400" b="1"/>
              <a:t>    Idle</a:t>
            </a:r>
            <a:endParaRPr lang="en" sz="1400"/>
          </a:p>
          <a:p>
            <a:pPr marL="0" indent="0" algn="l"/>
            <a:endParaRPr lang="en" sz="1400" b="1"/>
          </a:p>
          <a:p>
            <a:pPr marL="0" indent="0" algn="l"/>
            <a:r>
              <a:rPr lang="en" sz="1400" b="1"/>
              <a:t>    Movement</a:t>
            </a:r>
            <a:endParaRPr lang="en"/>
          </a:p>
          <a:p>
            <a:pPr marL="0" indent="0" algn="l"/>
            <a:endParaRPr lang="en" sz="1400" b="1"/>
          </a:p>
          <a:p>
            <a:pPr marL="0" indent="0" algn="l"/>
            <a:r>
              <a:rPr lang="en" sz="1400" b="1"/>
              <a:t>    Lose</a:t>
            </a:r>
            <a:endParaRPr lang="en"/>
          </a:p>
          <a:p>
            <a:pPr marL="0" indent="0" algn="l"/>
            <a:endParaRPr lang="en" sz="1400" b="1"/>
          </a:p>
          <a:p>
            <a:pPr marL="0" indent="0" algn="l"/>
            <a:r>
              <a:rPr lang="en" sz="1400" b="1"/>
              <a:t>    Win</a:t>
            </a:r>
          </a:p>
          <a:p>
            <a:pPr marL="0" indent="0" algn="l"/>
            <a:endParaRPr lang="en" sz="1400" b="1"/>
          </a:p>
          <a:p>
            <a:pPr marL="0" indent="0" algn="l"/>
            <a:r>
              <a:rPr lang="en" sz="1400" b="1"/>
              <a:t>    Make Damage</a:t>
            </a:r>
            <a:endParaRPr lang="en"/>
          </a:p>
          <a:p>
            <a:pPr marL="0" indent="0" algn="l"/>
            <a:endParaRPr lang="en" sz="1400" b="1"/>
          </a:p>
          <a:p>
            <a:pPr marL="0" indent="0" algn="l"/>
            <a:r>
              <a:rPr lang="en" sz="1400" b="1"/>
              <a:t>    Take Damage</a:t>
            </a:r>
          </a:p>
          <a:p>
            <a:pPr marL="0" indent="0" algn="l"/>
            <a:r>
              <a:rPr lang="en" sz="1400" b="1"/>
              <a:t>    </a:t>
            </a:r>
          </a:p>
          <a:p>
            <a:pPr marL="0" indent="0" algn="l"/>
            <a:r>
              <a:rPr lang="en" sz="1400" b="1"/>
              <a:t>    </a:t>
            </a:r>
          </a:p>
          <a:p>
            <a:pPr marL="0" indent="0" algn="l"/>
            <a:endParaRPr lang="en" sz="1400" b="1"/>
          </a:p>
        </p:txBody>
      </p:sp>
      <p:sp>
        <p:nvSpPr>
          <p:cNvPr id="15" name="Google Shape;1886;p30">
            <a:extLst>
              <a:ext uri="{FF2B5EF4-FFF2-40B4-BE49-F238E27FC236}">
                <a16:creationId xmlns:a16="http://schemas.microsoft.com/office/drawing/2014/main" id="{A585B94E-F8C1-4430-0D66-6E420C25A3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8711" y="405381"/>
            <a:ext cx="47610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Animations</a:t>
            </a:r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0248819-0D05-574A-1C18-21847284E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336" y="2511279"/>
            <a:ext cx="187926" cy="17479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663FC2B-A403-B24B-0A40-E644315C6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336" y="3806533"/>
            <a:ext cx="187926" cy="17479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6C473AD-1A24-E640-A3FF-3DB93349B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335" y="4194226"/>
            <a:ext cx="187926" cy="17479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0AAD7AB-6517-F8E9-7A2F-1623C21A0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336" y="2935822"/>
            <a:ext cx="187926" cy="1747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10FE8F-01A6-FC33-401C-0A102C40C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336" y="3360364"/>
            <a:ext cx="187926" cy="1747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556BB5-808A-BFCA-465A-DB7717B57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336" y="2111229"/>
            <a:ext cx="187926" cy="174797"/>
          </a:xfrm>
          <a:prstGeom prst="rect">
            <a:avLst/>
          </a:prstGeom>
        </p:spPr>
      </p:pic>
      <p:pic>
        <p:nvPicPr>
          <p:cNvPr id="8" name="Picture 7" descr="A cartoon of a blue octopus&#10;&#10;Description automatically generated">
            <a:extLst>
              <a:ext uri="{FF2B5EF4-FFF2-40B4-BE49-F238E27FC236}">
                <a16:creationId xmlns:a16="http://schemas.microsoft.com/office/drawing/2014/main" id="{6235B38D-3B5F-D39D-4D68-AD7990DDF1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8225" y="1289957"/>
            <a:ext cx="2025722" cy="3086100"/>
          </a:xfrm>
          <a:prstGeom prst="rect">
            <a:avLst/>
          </a:prstGeom>
        </p:spPr>
      </p:pic>
      <p:pic>
        <p:nvPicPr>
          <p:cNvPr id="9" name="Picture 8" descr="A cartoon of a blue octopus&#10;&#10;Description automatically generated">
            <a:extLst>
              <a:ext uri="{FF2B5EF4-FFF2-40B4-BE49-F238E27FC236}">
                <a16:creationId xmlns:a16="http://schemas.microsoft.com/office/drawing/2014/main" id="{5F7FB261-8E06-01F9-AA83-983FF99866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418" y="1289957"/>
            <a:ext cx="2025722" cy="30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564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Kraken Basic Rounded Flat icon">
            <a:extLst>
              <a:ext uri="{FF2B5EF4-FFF2-40B4-BE49-F238E27FC236}">
                <a16:creationId xmlns:a16="http://schemas.microsoft.com/office/drawing/2014/main" id="{A1EEA6BF-2345-4D96-7559-EF006B04F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60000">
            <a:off x="5257099" y="738907"/>
            <a:ext cx="1289119" cy="1250916"/>
          </a:xfrm>
          <a:prstGeom prst="rect">
            <a:avLst/>
          </a:prstGeom>
        </p:spPr>
      </p:pic>
      <p:sp>
        <p:nvSpPr>
          <p:cNvPr id="1886" name="Google Shape;1886;p30"/>
          <p:cNvSpPr txBox="1">
            <a:spLocks noGrp="1"/>
          </p:cNvSpPr>
          <p:nvPr>
            <p:ph type="title"/>
          </p:nvPr>
        </p:nvSpPr>
        <p:spPr>
          <a:xfrm>
            <a:off x="288461" y="598455"/>
            <a:ext cx="47610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UI Assets</a:t>
            </a:r>
          </a:p>
        </p:txBody>
      </p:sp>
      <p:sp>
        <p:nvSpPr>
          <p:cNvPr id="1887" name="Google Shape;1887;p30"/>
          <p:cNvSpPr txBox="1">
            <a:spLocks noGrp="1"/>
          </p:cNvSpPr>
          <p:nvPr>
            <p:ph type="subTitle" idx="1"/>
          </p:nvPr>
        </p:nvSpPr>
        <p:spPr>
          <a:xfrm>
            <a:off x="2730259" y="1408505"/>
            <a:ext cx="3366927" cy="2954860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" sz="1400"/>
          </a:p>
          <a:p>
            <a:pPr marL="0" indent="0">
              <a:buNone/>
            </a:pPr>
            <a:r>
              <a:rPr lang="en" sz="1400"/>
              <a:t>MENU Screen</a:t>
            </a:r>
            <a:endParaRPr lang="en"/>
          </a:p>
          <a:p>
            <a:pPr marL="0" indent="0">
              <a:buNone/>
            </a:pPr>
            <a:r>
              <a:rPr lang="en" sz="1400"/>
              <a:t> </a:t>
            </a:r>
          </a:p>
          <a:p>
            <a:pPr marL="0" indent="0">
              <a:buNone/>
            </a:pPr>
            <a:r>
              <a:rPr lang="en" sz="1400"/>
              <a:t> </a:t>
            </a:r>
            <a:r>
              <a:rPr lang="en" sz="1400">
                <a:solidFill>
                  <a:srgbClr val="F8F8F8"/>
                </a:solidFill>
              </a:rPr>
              <a:t>Button1:</a:t>
            </a:r>
            <a:r>
              <a:rPr lang="en" sz="1400"/>
              <a:t>  </a:t>
            </a:r>
            <a:r>
              <a:rPr lang="en" sz="1400">
                <a:solidFill>
                  <a:srgbClr val="FFC000"/>
                </a:solidFill>
              </a:rPr>
              <a:t>Exits the Application</a:t>
            </a:r>
          </a:p>
          <a:p>
            <a:pPr marL="0" indent="0">
              <a:buNone/>
            </a:pPr>
            <a:r>
              <a:rPr lang="en" sz="1400"/>
              <a:t> Button2:  </a:t>
            </a:r>
            <a:r>
              <a:rPr lang="en" sz="1400">
                <a:solidFill>
                  <a:srgbClr val="FFC000"/>
                </a:solidFill>
              </a:rPr>
              <a:t>Starts the Game</a:t>
            </a:r>
          </a:p>
          <a:p>
            <a:pPr marL="0" indent="0">
              <a:buNone/>
            </a:pPr>
            <a:endParaRPr lang="en" sz="1400"/>
          </a:p>
          <a:p>
            <a:pPr marL="0" indent="0">
              <a:buNone/>
            </a:pPr>
            <a:r>
              <a:rPr lang="en" sz="1400"/>
              <a:t>ASSET INCLUDE:</a:t>
            </a:r>
            <a:endParaRPr lang="en"/>
          </a:p>
          <a:p>
            <a:pPr marL="0" indent="0">
              <a:buNone/>
            </a:pPr>
            <a:r>
              <a:rPr lang="en" sz="1400"/>
              <a:t>    Game Title  Logo</a:t>
            </a:r>
          </a:p>
          <a:p>
            <a:pPr marL="0" indent="0">
              <a:buNone/>
            </a:pPr>
            <a:r>
              <a:rPr lang="en" sz="1400"/>
              <a:t>    Back Ground Art</a:t>
            </a:r>
          </a:p>
          <a:p>
            <a:pPr marL="0" indent="0">
              <a:buNone/>
            </a:pPr>
            <a:r>
              <a:rPr lang="en" sz="1400"/>
              <a:t>    Button Art Style</a:t>
            </a:r>
          </a:p>
          <a:p>
            <a:pPr marL="0" indent="0">
              <a:buNone/>
            </a:pPr>
            <a:endParaRPr lang="en" sz="1400"/>
          </a:p>
          <a:p>
            <a:pPr marL="0" indent="0">
              <a:buNone/>
            </a:pPr>
            <a:endParaRPr lang="en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C7937F-2EAB-AEE4-3503-230676EF9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019" y="3175558"/>
            <a:ext cx="187926" cy="1747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EA20A3-33B1-169C-54FF-0AB4812FC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019" y="3368633"/>
            <a:ext cx="187926" cy="1747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6D5F79-E0EE-53C2-10AD-3D51E20B7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018" y="3584876"/>
            <a:ext cx="187926" cy="174797"/>
          </a:xfrm>
          <a:prstGeom prst="rect">
            <a:avLst/>
          </a:prstGeom>
        </p:spPr>
      </p:pic>
      <p:pic>
        <p:nvPicPr>
          <p:cNvPr id="7" name="Picture 6" descr="Squid Basic Rounded Flat icon">
            <a:extLst>
              <a:ext uri="{FF2B5EF4-FFF2-40B4-BE49-F238E27FC236}">
                <a16:creationId xmlns:a16="http://schemas.microsoft.com/office/drawing/2014/main" id="{8261D1B4-EF24-537F-476C-C7D63BA3A4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32" y="4420115"/>
            <a:ext cx="728431" cy="72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836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Google Shape;1886;p30"/>
          <p:cNvSpPr txBox="1">
            <a:spLocks noGrp="1"/>
          </p:cNvSpPr>
          <p:nvPr>
            <p:ph type="title"/>
          </p:nvPr>
        </p:nvSpPr>
        <p:spPr>
          <a:xfrm>
            <a:off x="288461" y="598455"/>
            <a:ext cx="47610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Audio Assets</a:t>
            </a:r>
          </a:p>
        </p:txBody>
      </p:sp>
      <p:sp>
        <p:nvSpPr>
          <p:cNvPr id="1887" name="Google Shape;1887;p30"/>
          <p:cNvSpPr txBox="1">
            <a:spLocks noGrp="1"/>
          </p:cNvSpPr>
          <p:nvPr>
            <p:ph type="subTitle" idx="1"/>
          </p:nvPr>
        </p:nvSpPr>
        <p:spPr>
          <a:xfrm>
            <a:off x="733923" y="1283245"/>
            <a:ext cx="3366927" cy="2954860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" sz="1400"/>
              <a:t>Menu SFX:</a:t>
            </a:r>
          </a:p>
          <a:p>
            <a:pPr marL="0" indent="0">
              <a:buNone/>
            </a:pPr>
            <a:r>
              <a:rPr lang="en" sz="1400"/>
              <a:t> </a:t>
            </a:r>
          </a:p>
          <a:p>
            <a:pPr marL="0" indent="0">
              <a:buNone/>
            </a:pPr>
            <a:r>
              <a:rPr lang="en" sz="1400"/>
              <a:t> Adding more audio effects to menus:</a:t>
            </a:r>
            <a:endParaRPr lang="en" sz="1400">
              <a:solidFill>
                <a:srgbClr val="FFC000"/>
              </a:solidFill>
            </a:endParaRPr>
          </a:p>
          <a:p>
            <a:pPr marL="0" indent="0">
              <a:buNone/>
            </a:pPr>
            <a:r>
              <a:rPr lang="en" sz="1400"/>
              <a:t>            Main Menu</a:t>
            </a:r>
          </a:p>
          <a:p>
            <a:pPr marL="0" indent="0">
              <a:buNone/>
            </a:pPr>
            <a:r>
              <a:rPr lang="en" sz="1400"/>
              <a:t>                Round End</a:t>
            </a:r>
          </a:p>
          <a:p>
            <a:pPr marL="0" indent="0">
              <a:buNone/>
            </a:pPr>
            <a:r>
              <a:rPr lang="en" sz="1400"/>
              <a:t>                    Congratulatory Message</a:t>
            </a:r>
          </a:p>
          <a:p>
            <a:pPr marL="0" indent="0">
              <a:buNone/>
            </a:pPr>
            <a:endParaRPr lang="en" sz="1400"/>
          </a:p>
          <a:p>
            <a:pPr marL="0" indent="0">
              <a:buNone/>
            </a:pPr>
            <a:r>
              <a:rPr lang="en" sz="1400"/>
              <a:t>ASSET INCLUDE:</a:t>
            </a:r>
            <a:endParaRPr lang="en"/>
          </a:p>
          <a:p>
            <a:pPr marL="0" indent="0">
              <a:buNone/>
            </a:pPr>
            <a:r>
              <a:rPr lang="en" sz="1400"/>
              <a:t>    Non-copyright songs</a:t>
            </a:r>
          </a:p>
          <a:p>
            <a:pPr marL="0" indent="0">
              <a:buNone/>
            </a:pPr>
            <a:r>
              <a:rPr lang="en" sz="1400"/>
              <a:t>    </a:t>
            </a:r>
            <a:endParaRPr lang="en"/>
          </a:p>
          <a:p>
            <a:pPr marL="0" indent="0">
              <a:buNone/>
            </a:pPr>
            <a:r>
              <a:rPr lang="en" sz="1400"/>
              <a:t>        </a:t>
            </a:r>
            <a:endParaRPr lang="en"/>
          </a:p>
          <a:p>
            <a:pPr marL="0" indent="0">
              <a:buNone/>
            </a:pPr>
            <a:endParaRPr lang="en" sz="1400"/>
          </a:p>
        </p:txBody>
      </p:sp>
      <p:pic>
        <p:nvPicPr>
          <p:cNvPr id="6" name="Picture 5" descr="Octopus Vector SVG Icon - PNG Repo Free PNG Icons">
            <a:extLst>
              <a:ext uri="{FF2B5EF4-FFF2-40B4-BE49-F238E27FC236}">
                <a16:creationId xmlns:a16="http://schemas.microsoft.com/office/drawing/2014/main" id="{9A5898A8-90E6-81CB-52C9-574C80563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60000">
            <a:off x="3905164" y="3340091"/>
            <a:ext cx="1265744" cy="1250504"/>
          </a:xfrm>
          <a:prstGeom prst="rect">
            <a:avLst/>
          </a:prstGeom>
        </p:spPr>
      </p:pic>
      <p:sp>
        <p:nvSpPr>
          <p:cNvPr id="3" name="Google Shape;1887;p30">
            <a:extLst>
              <a:ext uri="{FF2B5EF4-FFF2-40B4-BE49-F238E27FC236}">
                <a16:creationId xmlns:a16="http://schemas.microsoft.com/office/drawing/2014/main" id="{8EC086ED-2D69-63F4-B6E7-D2C4C47A2630}"/>
              </a:ext>
            </a:extLst>
          </p:cNvPr>
          <p:cNvSpPr txBox="1">
            <a:spLocks/>
          </p:cNvSpPr>
          <p:nvPr/>
        </p:nvSpPr>
        <p:spPr>
          <a:xfrm>
            <a:off x="4972939" y="1286898"/>
            <a:ext cx="3366927" cy="2954860"/>
          </a:xfrm>
          <a:prstGeom prst="roundRect">
            <a:avLst/>
          </a:prstGeom>
          <a:solidFill>
            <a:srgbClr val="FAF396">
              <a:alpha val="20000"/>
            </a:srgbClr>
          </a:solidFill>
          <a:ln w="28575">
            <a:solidFill>
              <a:srgbClr val="FFC000"/>
            </a:solidFill>
            <a:prstDash val="dash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unito Light"/>
              <a:buChar char="●"/>
              <a:defRPr sz="1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Light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>
              <a:buFont typeface="Nunito Light"/>
              <a:buNone/>
            </a:pPr>
            <a:r>
              <a:rPr lang="en" sz="1400"/>
              <a:t>Battle Phase SFX:</a:t>
            </a:r>
          </a:p>
          <a:p>
            <a:pPr marL="0" indent="0">
              <a:buFont typeface="Nunito Light"/>
              <a:buNone/>
            </a:pPr>
            <a:r>
              <a:rPr lang="en" sz="1400"/>
              <a:t> </a:t>
            </a:r>
          </a:p>
          <a:p>
            <a:pPr marL="0" indent="0">
              <a:buFont typeface="Nunito Light"/>
              <a:buNone/>
            </a:pPr>
            <a:r>
              <a:rPr lang="en" sz="1400"/>
              <a:t> During the duel, the game play experience is enriched with </a:t>
            </a:r>
            <a:r>
              <a:rPr lang="en" sz="1400">
                <a:solidFill>
                  <a:srgbClr val="FFC000"/>
                </a:solidFill>
              </a:rPr>
              <a:t>audio </a:t>
            </a:r>
            <a:r>
              <a:rPr lang="en" sz="1400"/>
              <a:t>and </a:t>
            </a:r>
            <a:r>
              <a:rPr lang="en" sz="1400">
                <a:solidFill>
                  <a:srgbClr val="FFC000"/>
                </a:solidFill>
              </a:rPr>
              <a:t>sound effects</a:t>
            </a:r>
            <a:r>
              <a:rPr lang="en" sz="1400"/>
              <a:t> for better player immersion and enjoyment.</a:t>
            </a:r>
            <a:endParaRPr lang="en" sz="1400">
              <a:solidFill>
                <a:srgbClr val="FFC000"/>
              </a:solidFill>
            </a:endParaRPr>
          </a:p>
          <a:p>
            <a:pPr marL="0" indent="0">
              <a:buFont typeface="Nunito Light"/>
              <a:buNone/>
            </a:pPr>
            <a:endParaRPr lang="en" sz="1400"/>
          </a:p>
          <a:p>
            <a:pPr marL="0" indent="0">
              <a:buFont typeface="Nunito Light"/>
              <a:buNone/>
            </a:pPr>
            <a:r>
              <a:rPr lang="en" sz="1400"/>
              <a:t>ASSET INCLUDE:</a:t>
            </a:r>
            <a:endParaRPr lang="en"/>
          </a:p>
          <a:p>
            <a:pPr marL="0" indent="0">
              <a:buFont typeface="Nunito Light"/>
              <a:buNone/>
            </a:pPr>
            <a:r>
              <a:rPr lang="en" sz="1400"/>
              <a:t>    Gunshots</a:t>
            </a:r>
          </a:p>
          <a:p>
            <a:pPr marL="0" indent="0">
              <a:buFont typeface="Nunito Light"/>
              <a:buNone/>
            </a:pPr>
            <a:r>
              <a:rPr lang="en" sz="1400"/>
              <a:t>    Players Getting Hit</a:t>
            </a:r>
            <a:endParaRPr lang="en"/>
          </a:p>
          <a:p>
            <a:pPr marL="0" indent="0">
              <a:buNone/>
            </a:pPr>
            <a:r>
              <a:rPr lang="en" sz="1400"/>
              <a:t>    BG Music </a:t>
            </a:r>
            <a:endParaRPr lang="en"/>
          </a:p>
          <a:p>
            <a:pPr marL="0" indent="0">
              <a:buNone/>
            </a:pPr>
            <a:r>
              <a:rPr lang="en" sz="1400"/>
              <a:t>                Wall-bump   </a:t>
            </a:r>
            <a:endParaRPr lang="en"/>
          </a:p>
          <a:p>
            <a:pPr marL="0" indent="0">
              <a:buFont typeface="Nunito Light"/>
              <a:buNone/>
            </a:pPr>
            <a:endParaRPr lang="en" sz="1400"/>
          </a:p>
        </p:txBody>
      </p:sp>
    </p:spTree>
    <p:extLst>
      <p:ext uri="{BB962C8B-B14F-4D97-AF65-F5344CB8AC3E}">
        <p14:creationId xmlns:p14="http://schemas.microsoft.com/office/powerpoint/2010/main" val="316296770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Retro Pixel Business Basic Template by Slidesgo">
  <a:themeElements>
    <a:clrScheme name="Simple Light">
      <a:dk1>
        <a:srgbClr val="F8F8F8"/>
      </a:dk1>
      <a:lt1>
        <a:srgbClr val="1B1B1B"/>
      </a:lt1>
      <a:dk2>
        <a:srgbClr val="595959"/>
      </a:dk2>
      <a:lt2>
        <a:srgbClr val="F1C232"/>
      </a:lt2>
      <a:accent1>
        <a:srgbClr val="FF9900"/>
      </a:accent1>
      <a:accent2>
        <a:srgbClr val="FFF2CC"/>
      </a:accent2>
      <a:accent3>
        <a:srgbClr val="CC0000"/>
      </a:accent3>
      <a:accent4>
        <a:srgbClr val="05349B"/>
      </a:accent4>
      <a:accent5>
        <a:srgbClr val="B1AAF2"/>
      </a:accent5>
      <a:accent6>
        <a:srgbClr val="FFFFFF"/>
      </a:accent6>
      <a:hlink>
        <a:srgbClr val="F8F8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18</Slides>
  <Notes>17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Simple Retro Pixel Business Basic Template by Slidesgo</vt:lpstr>
      <vt:lpstr>“Squids with gunz”</vt:lpstr>
      <vt:lpstr>TABLE OF CONTENTS</vt:lpstr>
      <vt:lpstr>Feedback Collection and Suggested Additional Features  </vt:lpstr>
      <vt:lpstr>Feeback Received</vt:lpstr>
      <vt:lpstr>Analysis of Suggestions</vt:lpstr>
      <vt:lpstr>Evaluation of Suggestions</vt:lpstr>
      <vt:lpstr>PowerPoint Presentation</vt:lpstr>
      <vt:lpstr>Features of the Beta Build </vt:lpstr>
      <vt:lpstr>Features</vt:lpstr>
      <vt:lpstr>Identified bugs</vt:lpstr>
      <vt:lpstr>BUGS</vt:lpstr>
      <vt:lpstr>Gameplay Demonstration </vt:lpstr>
      <vt:lpstr>Conclusion and Planned Improvements </vt:lpstr>
      <vt:lpstr>PowerPoint Presentation</vt:lpstr>
      <vt:lpstr>PowerPoint Presentation</vt:lpstr>
      <vt:lpstr>Animations</vt:lpstr>
      <vt:lpstr>UI Assets</vt:lpstr>
      <vt:lpstr>Audio Assets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“Squids with gunz”</dc:title>
  <cp:revision>4</cp:revision>
  <dcterms:modified xsi:type="dcterms:W3CDTF">2024-11-27T18:37:30Z</dcterms:modified>
</cp:coreProperties>
</file>